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73" r:id="rId16"/>
    <p:sldId id="272" r:id="rId17"/>
    <p:sldId id="269" r:id="rId18"/>
    <p:sldId id="270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10" d="100"/>
          <a:sy n="110" d="100"/>
        </p:scale>
        <p:origin x="78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0E6857-D12C-455F-BFDD-014E3D035B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7516EB4-2687-420A-8188-8B027D2CAD92}">
      <dgm:prSet/>
      <dgm:spPr/>
      <dgm:t>
        <a:bodyPr/>
        <a:lstStyle/>
        <a:p>
          <a:r>
            <a:rPr lang="en-US"/>
            <a:t>The objectives of this project were: </a:t>
          </a:r>
          <a:endParaRPr lang="en-IN"/>
        </a:p>
      </dgm:t>
    </dgm:pt>
    <dgm:pt modelId="{2530CFB2-1504-4901-B5AE-0CA84C6A4ACE}" type="parTrans" cxnId="{F3880656-F0F7-4676-936E-4B28F2013976}">
      <dgm:prSet/>
      <dgm:spPr/>
      <dgm:t>
        <a:bodyPr/>
        <a:lstStyle/>
        <a:p>
          <a:endParaRPr lang="en-IN"/>
        </a:p>
      </dgm:t>
    </dgm:pt>
    <dgm:pt modelId="{3F262037-9A55-4CD8-8CB6-132CDC9FB3D2}" type="sibTrans" cxnId="{F3880656-F0F7-4676-936E-4B28F2013976}">
      <dgm:prSet/>
      <dgm:spPr/>
      <dgm:t>
        <a:bodyPr/>
        <a:lstStyle/>
        <a:p>
          <a:endParaRPr lang="en-IN"/>
        </a:p>
      </dgm:t>
    </dgm:pt>
    <dgm:pt modelId="{2A93A368-6A41-42C4-B7E7-1F22DF2F816B}">
      <dgm:prSet/>
      <dgm:spPr/>
      <dgm:t>
        <a:bodyPr/>
        <a:lstStyle/>
        <a:p>
          <a:r>
            <a:rPr lang="en-US" dirty="0"/>
            <a:t>To analyze historical </a:t>
          </a:r>
          <a:r>
            <a:rPr lang="en-US" dirty="0"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a:rPr>
            <a:t>supermarket</a:t>
          </a:r>
          <a:r>
            <a:rPr lang="en-US" dirty="0"/>
            <a:t> sales data </a:t>
          </a:r>
          <a:endParaRPr lang="en-IN" dirty="0"/>
        </a:p>
      </dgm:t>
    </dgm:pt>
    <dgm:pt modelId="{445E73F5-267F-48BD-BC3B-B85761A24D7C}" type="parTrans" cxnId="{D6FD745E-B274-442A-863C-D380585C262A}">
      <dgm:prSet/>
      <dgm:spPr/>
      <dgm:t>
        <a:bodyPr/>
        <a:lstStyle/>
        <a:p>
          <a:endParaRPr lang="en-IN"/>
        </a:p>
      </dgm:t>
    </dgm:pt>
    <dgm:pt modelId="{99887D00-C791-4D30-A099-56D8110F014C}" type="sibTrans" cxnId="{D6FD745E-B274-442A-863C-D380585C262A}">
      <dgm:prSet/>
      <dgm:spPr/>
      <dgm:t>
        <a:bodyPr/>
        <a:lstStyle/>
        <a:p>
          <a:endParaRPr lang="en-IN"/>
        </a:p>
      </dgm:t>
    </dgm:pt>
    <dgm:pt modelId="{9EDCAB3E-E609-44E2-8F55-017364C03766}">
      <dgm:prSet/>
      <dgm:spPr/>
      <dgm:t>
        <a:bodyPr/>
        <a:lstStyle/>
        <a:p>
          <a:r>
            <a:rPr lang="en-US"/>
            <a:t>To understand the relationship between sales, discounts, and profit </a:t>
          </a:r>
          <a:endParaRPr lang="en-IN"/>
        </a:p>
      </dgm:t>
    </dgm:pt>
    <dgm:pt modelId="{B4D3F417-CCDE-45CD-8A19-E72324419685}" type="parTrans" cxnId="{D9E9678D-607D-49E3-9971-8D8FE3EF9DE4}">
      <dgm:prSet/>
      <dgm:spPr/>
      <dgm:t>
        <a:bodyPr/>
        <a:lstStyle/>
        <a:p>
          <a:endParaRPr lang="en-IN"/>
        </a:p>
      </dgm:t>
    </dgm:pt>
    <dgm:pt modelId="{C53D5301-4E45-486C-BD33-97E7C08B794E}" type="sibTrans" cxnId="{D9E9678D-607D-49E3-9971-8D8FE3EF9DE4}">
      <dgm:prSet/>
      <dgm:spPr/>
      <dgm:t>
        <a:bodyPr/>
        <a:lstStyle/>
        <a:p>
          <a:endParaRPr lang="en-IN"/>
        </a:p>
      </dgm:t>
    </dgm:pt>
    <dgm:pt modelId="{57DFEF67-A424-4B79-8421-3A565EBBC5F7}">
      <dgm:prSet/>
      <dgm:spPr/>
      <dgm:t>
        <a:bodyPr/>
        <a:lstStyle/>
        <a:p>
          <a:r>
            <a:rPr lang="en-US"/>
            <a:t>To build a machine learning model for profit prediction </a:t>
          </a:r>
          <a:endParaRPr lang="en-IN"/>
        </a:p>
      </dgm:t>
    </dgm:pt>
    <dgm:pt modelId="{7086A7CE-72B9-4694-A663-2B1DFB5ED147}" type="parTrans" cxnId="{E20BBEF1-10FA-453E-9C5C-797D182C274B}">
      <dgm:prSet/>
      <dgm:spPr/>
      <dgm:t>
        <a:bodyPr/>
        <a:lstStyle/>
        <a:p>
          <a:endParaRPr lang="en-IN"/>
        </a:p>
      </dgm:t>
    </dgm:pt>
    <dgm:pt modelId="{C2D88EAA-A8C4-4606-9C64-7780DBAEE6F7}" type="sibTrans" cxnId="{E20BBEF1-10FA-453E-9C5C-797D182C274B}">
      <dgm:prSet/>
      <dgm:spPr/>
      <dgm:t>
        <a:bodyPr/>
        <a:lstStyle/>
        <a:p>
          <a:endParaRPr lang="en-IN"/>
        </a:p>
      </dgm:t>
    </dgm:pt>
    <dgm:pt modelId="{A9C9D30D-499E-4042-89E6-E5E49FEEBC5B}">
      <dgm:prSet/>
      <dgm:spPr/>
      <dgm:t>
        <a:bodyPr/>
        <a:lstStyle/>
        <a:p>
          <a:r>
            <a:rPr lang="en-US"/>
            <a:t>To deploy an interactive application for real-time businessdecision support </a:t>
          </a:r>
          <a:endParaRPr lang="en-IN"/>
        </a:p>
      </dgm:t>
    </dgm:pt>
    <dgm:pt modelId="{93A2B077-2A0D-498F-AC92-86A643A35EF2}" type="parTrans" cxnId="{5EF5AE3F-2FAD-4ED4-9E6C-1FCEE5B80B92}">
      <dgm:prSet/>
      <dgm:spPr/>
      <dgm:t>
        <a:bodyPr/>
        <a:lstStyle/>
        <a:p>
          <a:endParaRPr lang="en-IN"/>
        </a:p>
      </dgm:t>
    </dgm:pt>
    <dgm:pt modelId="{BFAED602-D610-4E9E-B0D0-1E29DC5DB241}" type="sibTrans" cxnId="{5EF5AE3F-2FAD-4ED4-9E6C-1FCEE5B80B92}">
      <dgm:prSet/>
      <dgm:spPr/>
      <dgm:t>
        <a:bodyPr/>
        <a:lstStyle/>
        <a:p>
          <a:endParaRPr lang="en-IN"/>
        </a:p>
      </dgm:t>
    </dgm:pt>
    <dgm:pt modelId="{72FD3991-94A6-4947-AD0F-1BC4EC9CEC61}">
      <dgm:prSet/>
      <dgm:spPr/>
      <dgm:t>
        <a:bodyPr/>
        <a:lstStyle/>
        <a:p>
          <a:r>
            <a:rPr lang="en-US"/>
            <a:t>To demonstrate the use of </a:t>
          </a:r>
          <a:r>
            <a:rPr lang="en-US" b="1"/>
            <a:t>Excel, SQL, Python, and Machine Learning </a:t>
          </a:r>
          <a:r>
            <a:rPr lang="en-US"/>
            <a:t>in a single end-to-end project </a:t>
          </a:r>
          <a:endParaRPr lang="en-IN"/>
        </a:p>
      </dgm:t>
    </dgm:pt>
    <dgm:pt modelId="{C068BD14-60E0-458D-B8DF-342B4F7345F5}" type="parTrans" cxnId="{59D6C058-FE84-4D75-948D-749DDCD0B5B5}">
      <dgm:prSet/>
      <dgm:spPr/>
      <dgm:t>
        <a:bodyPr/>
        <a:lstStyle/>
        <a:p>
          <a:endParaRPr lang="en-IN"/>
        </a:p>
      </dgm:t>
    </dgm:pt>
    <dgm:pt modelId="{17A4F3E5-431D-4658-8AFE-C5C655DAB848}" type="sibTrans" cxnId="{59D6C058-FE84-4D75-948D-749DDCD0B5B5}">
      <dgm:prSet/>
      <dgm:spPr/>
      <dgm:t>
        <a:bodyPr/>
        <a:lstStyle/>
        <a:p>
          <a:endParaRPr lang="en-IN"/>
        </a:p>
      </dgm:t>
    </dgm:pt>
    <dgm:pt modelId="{0B054164-9D4F-4C9A-98F7-CFBBBE9D3B65}" type="pres">
      <dgm:prSet presAssocID="{8A0E6857-D12C-455F-BFDD-014E3D035B9C}" presName="linear" presStyleCnt="0">
        <dgm:presLayoutVars>
          <dgm:animLvl val="lvl"/>
          <dgm:resizeHandles val="exact"/>
        </dgm:presLayoutVars>
      </dgm:prSet>
      <dgm:spPr/>
    </dgm:pt>
    <dgm:pt modelId="{04F497D6-BCAA-4AA1-B8B0-0878FDE16BEE}" type="pres">
      <dgm:prSet presAssocID="{37516EB4-2687-420A-8188-8B027D2CAD9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D2E465E-9A22-4C84-9920-D6E466D4FCF5}" type="pres">
      <dgm:prSet presAssocID="{3F262037-9A55-4CD8-8CB6-132CDC9FB3D2}" presName="spacer" presStyleCnt="0"/>
      <dgm:spPr/>
    </dgm:pt>
    <dgm:pt modelId="{51CB5EDD-704E-4255-BE97-10270D9C4341}" type="pres">
      <dgm:prSet presAssocID="{2A93A368-6A41-42C4-B7E7-1F22DF2F816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BA0A41D-874D-4D31-8121-153D2453E4F8}" type="pres">
      <dgm:prSet presAssocID="{99887D00-C791-4D30-A099-56D8110F014C}" presName="spacer" presStyleCnt="0"/>
      <dgm:spPr/>
    </dgm:pt>
    <dgm:pt modelId="{5CDB1510-E2F6-4A64-AEEC-7DA2C785F091}" type="pres">
      <dgm:prSet presAssocID="{9EDCAB3E-E609-44E2-8F55-017364C0376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2BDBC08-B5A2-4C56-ACC4-637B5FFDC2D0}" type="pres">
      <dgm:prSet presAssocID="{C53D5301-4E45-486C-BD33-97E7C08B794E}" presName="spacer" presStyleCnt="0"/>
      <dgm:spPr/>
    </dgm:pt>
    <dgm:pt modelId="{4E4EE7BE-E684-427C-BA85-B0F972ED4ED1}" type="pres">
      <dgm:prSet presAssocID="{57DFEF67-A424-4B79-8421-3A565EBBC5F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2842156-EEE6-4552-AF87-A31C1A232E93}" type="pres">
      <dgm:prSet presAssocID="{C2D88EAA-A8C4-4606-9C64-7780DBAEE6F7}" presName="spacer" presStyleCnt="0"/>
      <dgm:spPr/>
    </dgm:pt>
    <dgm:pt modelId="{5E880734-AA35-46DF-A61E-7DD431B4ED08}" type="pres">
      <dgm:prSet presAssocID="{A9C9D30D-499E-4042-89E6-E5E49FEEBC5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49DCA86-4D64-4DBC-B0D3-6505174E9843}" type="pres">
      <dgm:prSet presAssocID="{BFAED602-D610-4E9E-B0D0-1E29DC5DB241}" presName="spacer" presStyleCnt="0"/>
      <dgm:spPr/>
    </dgm:pt>
    <dgm:pt modelId="{88F0356A-CE4F-41DB-9AAB-57D13279DC4D}" type="pres">
      <dgm:prSet presAssocID="{72FD3991-94A6-4947-AD0F-1BC4EC9CEC61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F51171E-6A0F-4817-A1EE-1FB97163FBAC}" type="presOf" srcId="{72FD3991-94A6-4947-AD0F-1BC4EC9CEC61}" destId="{88F0356A-CE4F-41DB-9AAB-57D13279DC4D}" srcOrd="0" destOrd="0" presId="urn:microsoft.com/office/officeart/2005/8/layout/vList2"/>
    <dgm:cxn modelId="{CEEF7621-8AA9-4CFE-8C49-393FF532155F}" type="presOf" srcId="{57DFEF67-A424-4B79-8421-3A565EBBC5F7}" destId="{4E4EE7BE-E684-427C-BA85-B0F972ED4ED1}" srcOrd="0" destOrd="0" presId="urn:microsoft.com/office/officeart/2005/8/layout/vList2"/>
    <dgm:cxn modelId="{484B6239-8A6D-4E91-98D6-E408F9192724}" type="presOf" srcId="{8A0E6857-D12C-455F-BFDD-014E3D035B9C}" destId="{0B054164-9D4F-4C9A-98F7-CFBBBE9D3B65}" srcOrd="0" destOrd="0" presId="urn:microsoft.com/office/officeart/2005/8/layout/vList2"/>
    <dgm:cxn modelId="{5EF5AE3F-2FAD-4ED4-9E6C-1FCEE5B80B92}" srcId="{8A0E6857-D12C-455F-BFDD-014E3D035B9C}" destId="{A9C9D30D-499E-4042-89E6-E5E49FEEBC5B}" srcOrd="4" destOrd="0" parTransId="{93A2B077-2A0D-498F-AC92-86A643A35EF2}" sibTransId="{BFAED602-D610-4E9E-B0D0-1E29DC5DB241}"/>
    <dgm:cxn modelId="{D6FD745E-B274-442A-863C-D380585C262A}" srcId="{8A0E6857-D12C-455F-BFDD-014E3D035B9C}" destId="{2A93A368-6A41-42C4-B7E7-1F22DF2F816B}" srcOrd="1" destOrd="0" parTransId="{445E73F5-267F-48BD-BC3B-B85761A24D7C}" sibTransId="{99887D00-C791-4D30-A099-56D8110F014C}"/>
    <dgm:cxn modelId="{D2F5974E-CE46-42A9-842B-84907D9E5810}" type="presOf" srcId="{37516EB4-2687-420A-8188-8B027D2CAD92}" destId="{04F497D6-BCAA-4AA1-B8B0-0878FDE16BEE}" srcOrd="0" destOrd="0" presId="urn:microsoft.com/office/officeart/2005/8/layout/vList2"/>
    <dgm:cxn modelId="{F3880656-F0F7-4676-936E-4B28F2013976}" srcId="{8A0E6857-D12C-455F-BFDD-014E3D035B9C}" destId="{37516EB4-2687-420A-8188-8B027D2CAD92}" srcOrd="0" destOrd="0" parTransId="{2530CFB2-1504-4901-B5AE-0CA84C6A4ACE}" sibTransId="{3F262037-9A55-4CD8-8CB6-132CDC9FB3D2}"/>
    <dgm:cxn modelId="{59D6C058-FE84-4D75-948D-749DDCD0B5B5}" srcId="{8A0E6857-D12C-455F-BFDD-014E3D035B9C}" destId="{72FD3991-94A6-4947-AD0F-1BC4EC9CEC61}" srcOrd="5" destOrd="0" parTransId="{C068BD14-60E0-458D-B8DF-342B4F7345F5}" sibTransId="{17A4F3E5-431D-4658-8AFE-C5C655DAB848}"/>
    <dgm:cxn modelId="{D9E9678D-607D-49E3-9971-8D8FE3EF9DE4}" srcId="{8A0E6857-D12C-455F-BFDD-014E3D035B9C}" destId="{9EDCAB3E-E609-44E2-8F55-017364C03766}" srcOrd="2" destOrd="0" parTransId="{B4D3F417-CCDE-45CD-8A19-E72324419685}" sibTransId="{C53D5301-4E45-486C-BD33-97E7C08B794E}"/>
    <dgm:cxn modelId="{CC91C2AD-B32A-4967-AE67-DB35BD03C2C0}" type="presOf" srcId="{9EDCAB3E-E609-44E2-8F55-017364C03766}" destId="{5CDB1510-E2F6-4A64-AEEC-7DA2C785F091}" srcOrd="0" destOrd="0" presId="urn:microsoft.com/office/officeart/2005/8/layout/vList2"/>
    <dgm:cxn modelId="{FD2758CB-4AF8-476A-9A75-7679A7E17D29}" type="presOf" srcId="{2A93A368-6A41-42C4-B7E7-1F22DF2F816B}" destId="{51CB5EDD-704E-4255-BE97-10270D9C4341}" srcOrd="0" destOrd="0" presId="urn:microsoft.com/office/officeart/2005/8/layout/vList2"/>
    <dgm:cxn modelId="{E20BBEF1-10FA-453E-9C5C-797D182C274B}" srcId="{8A0E6857-D12C-455F-BFDD-014E3D035B9C}" destId="{57DFEF67-A424-4B79-8421-3A565EBBC5F7}" srcOrd="3" destOrd="0" parTransId="{7086A7CE-72B9-4694-A663-2B1DFB5ED147}" sibTransId="{C2D88EAA-A8C4-4606-9C64-7780DBAEE6F7}"/>
    <dgm:cxn modelId="{267C3DF9-C1FE-45F2-A39D-FAF530EEAE58}" type="presOf" srcId="{A9C9D30D-499E-4042-89E6-E5E49FEEBC5B}" destId="{5E880734-AA35-46DF-A61E-7DD431B4ED08}" srcOrd="0" destOrd="0" presId="urn:microsoft.com/office/officeart/2005/8/layout/vList2"/>
    <dgm:cxn modelId="{64A44DA5-0BAA-4FB9-888E-8B82662F4783}" type="presParOf" srcId="{0B054164-9D4F-4C9A-98F7-CFBBBE9D3B65}" destId="{04F497D6-BCAA-4AA1-B8B0-0878FDE16BEE}" srcOrd="0" destOrd="0" presId="urn:microsoft.com/office/officeart/2005/8/layout/vList2"/>
    <dgm:cxn modelId="{A5763C06-459F-4ACC-A4EA-2A77CC6E80AF}" type="presParOf" srcId="{0B054164-9D4F-4C9A-98F7-CFBBBE9D3B65}" destId="{3D2E465E-9A22-4C84-9920-D6E466D4FCF5}" srcOrd="1" destOrd="0" presId="urn:microsoft.com/office/officeart/2005/8/layout/vList2"/>
    <dgm:cxn modelId="{400DA108-4A30-40D0-8FC7-965995552A9C}" type="presParOf" srcId="{0B054164-9D4F-4C9A-98F7-CFBBBE9D3B65}" destId="{51CB5EDD-704E-4255-BE97-10270D9C4341}" srcOrd="2" destOrd="0" presId="urn:microsoft.com/office/officeart/2005/8/layout/vList2"/>
    <dgm:cxn modelId="{FD58439B-C51C-4FFB-BB9D-AA098DD48EE6}" type="presParOf" srcId="{0B054164-9D4F-4C9A-98F7-CFBBBE9D3B65}" destId="{7BA0A41D-874D-4D31-8121-153D2453E4F8}" srcOrd="3" destOrd="0" presId="urn:microsoft.com/office/officeart/2005/8/layout/vList2"/>
    <dgm:cxn modelId="{BC54F7DE-823B-49A5-A0C8-069EBCF993C9}" type="presParOf" srcId="{0B054164-9D4F-4C9A-98F7-CFBBBE9D3B65}" destId="{5CDB1510-E2F6-4A64-AEEC-7DA2C785F091}" srcOrd="4" destOrd="0" presId="urn:microsoft.com/office/officeart/2005/8/layout/vList2"/>
    <dgm:cxn modelId="{E258ACB4-9B22-467D-98A3-A3A285DE8E0D}" type="presParOf" srcId="{0B054164-9D4F-4C9A-98F7-CFBBBE9D3B65}" destId="{42BDBC08-B5A2-4C56-ACC4-637B5FFDC2D0}" srcOrd="5" destOrd="0" presId="urn:microsoft.com/office/officeart/2005/8/layout/vList2"/>
    <dgm:cxn modelId="{50156AC9-E67E-4FEB-BEFD-84745E0DF125}" type="presParOf" srcId="{0B054164-9D4F-4C9A-98F7-CFBBBE9D3B65}" destId="{4E4EE7BE-E684-427C-BA85-B0F972ED4ED1}" srcOrd="6" destOrd="0" presId="urn:microsoft.com/office/officeart/2005/8/layout/vList2"/>
    <dgm:cxn modelId="{5067F66B-5025-4660-BB95-CA727A5CA30D}" type="presParOf" srcId="{0B054164-9D4F-4C9A-98F7-CFBBBE9D3B65}" destId="{82842156-EEE6-4552-AF87-A31C1A232E93}" srcOrd="7" destOrd="0" presId="urn:microsoft.com/office/officeart/2005/8/layout/vList2"/>
    <dgm:cxn modelId="{D33CC4AA-4BA1-49E0-9453-9E3776665DF9}" type="presParOf" srcId="{0B054164-9D4F-4C9A-98F7-CFBBBE9D3B65}" destId="{5E880734-AA35-46DF-A61E-7DD431B4ED08}" srcOrd="8" destOrd="0" presId="urn:microsoft.com/office/officeart/2005/8/layout/vList2"/>
    <dgm:cxn modelId="{F3B610E7-7914-43BC-B3B2-A559ABA14A6B}" type="presParOf" srcId="{0B054164-9D4F-4C9A-98F7-CFBBBE9D3B65}" destId="{C49DCA86-4D64-4DBC-B0D3-6505174E9843}" srcOrd="9" destOrd="0" presId="urn:microsoft.com/office/officeart/2005/8/layout/vList2"/>
    <dgm:cxn modelId="{BEF56A61-A3C4-44DF-A0B6-8F6789641709}" type="presParOf" srcId="{0B054164-9D4F-4C9A-98F7-CFBBBE9D3B65}" destId="{88F0356A-CE4F-41DB-9AAB-57D13279DC4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11510A-8B9D-490D-A999-E67185896749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A430595-D269-4580-B362-30A23227F331}">
      <dgm:prSet/>
      <dgm:spPr/>
      <dgm:t>
        <a:bodyPr/>
        <a:lstStyle/>
        <a:p>
          <a:r>
            <a:rPr lang="en-US"/>
            <a:t>The dataset contains historical grocery sales transactions with attributes such as: </a:t>
          </a:r>
          <a:endParaRPr lang="en-IN"/>
        </a:p>
      </dgm:t>
    </dgm:pt>
    <dgm:pt modelId="{3BA9F15F-ACA2-43F3-B198-C66EC1CC5E72}" type="parTrans" cxnId="{94E68C78-F92B-481A-9AAD-672AF1578250}">
      <dgm:prSet/>
      <dgm:spPr/>
      <dgm:t>
        <a:bodyPr/>
        <a:lstStyle/>
        <a:p>
          <a:endParaRPr lang="en-IN"/>
        </a:p>
      </dgm:t>
    </dgm:pt>
    <dgm:pt modelId="{2919945E-495D-4EE5-9482-2E0B56E99956}" type="sibTrans" cxnId="{94E68C78-F92B-481A-9AAD-672AF1578250}">
      <dgm:prSet/>
      <dgm:spPr/>
      <dgm:t>
        <a:bodyPr/>
        <a:lstStyle/>
        <a:p>
          <a:endParaRPr lang="en-IN"/>
        </a:p>
      </dgm:t>
    </dgm:pt>
    <dgm:pt modelId="{14E1A138-5038-4913-A4F2-3DDD691B5BBE}">
      <dgm:prSet/>
      <dgm:spPr/>
      <dgm:t>
        <a:bodyPr/>
        <a:lstStyle/>
        <a:p>
          <a:r>
            <a:rPr lang="en-US"/>
            <a:t>Order details (Order ID, Customer Name) </a:t>
          </a:r>
          <a:endParaRPr lang="en-IN"/>
        </a:p>
      </dgm:t>
    </dgm:pt>
    <dgm:pt modelId="{57CECC62-31E8-4546-85A4-434F1326E201}" type="parTrans" cxnId="{B5E9124A-B98B-49BC-9154-5784A2FC32D1}">
      <dgm:prSet/>
      <dgm:spPr/>
      <dgm:t>
        <a:bodyPr/>
        <a:lstStyle/>
        <a:p>
          <a:endParaRPr lang="en-IN"/>
        </a:p>
      </dgm:t>
    </dgm:pt>
    <dgm:pt modelId="{9E19EEED-6ABE-4374-9C87-45F7F525EF37}" type="sibTrans" cxnId="{B5E9124A-B98B-49BC-9154-5784A2FC32D1}">
      <dgm:prSet/>
      <dgm:spPr/>
      <dgm:t>
        <a:bodyPr/>
        <a:lstStyle/>
        <a:p>
          <a:endParaRPr lang="en-IN"/>
        </a:p>
      </dgm:t>
    </dgm:pt>
    <dgm:pt modelId="{D2C526EF-EE8E-4FD3-BC56-7BB2F2212CEF}">
      <dgm:prSet/>
      <dgm:spPr/>
      <dgm:t>
        <a:bodyPr/>
        <a:lstStyle/>
        <a:p>
          <a:r>
            <a:rPr lang="en-IN"/>
            <a:t>Product information (Category, Sub-category) </a:t>
          </a:r>
        </a:p>
      </dgm:t>
    </dgm:pt>
    <dgm:pt modelId="{2A104D43-76E5-40A9-8973-3895EFB31469}" type="parTrans" cxnId="{BE658167-D8C5-4508-AD94-0B785BAC65C0}">
      <dgm:prSet/>
      <dgm:spPr/>
      <dgm:t>
        <a:bodyPr/>
        <a:lstStyle/>
        <a:p>
          <a:endParaRPr lang="en-IN"/>
        </a:p>
      </dgm:t>
    </dgm:pt>
    <dgm:pt modelId="{25B68EF2-2C79-4391-A540-9AFF262DFBAA}" type="sibTrans" cxnId="{BE658167-D8C5-4508-AD94-0B785BAC65C0}">
      <dgm:prSet/>
      <dgm:spPr/>
      <dgm:t>
        <a:bodyPr/>
        <a:lstStyle/>
        <a:p>
          <a:endParaRPr lang="en-IN"/>
        </a:p>
      </dgm:t>
    </dgm:pt>
    <dgm:pt modelId="{109E0145-DD88-4D03-91B0-DED1A0EA8F77}">
      <dgm:prSet/>
      <dgm:spPr/>
      <dgm:t>
        <a:bodyPr/>
        <a:lstStyle/>
        <a:p>
          <a:r>
            <a:rPr lang="en-US"/>
            <a:t>Location details (City, Region, State) </a:t>
          </a:r>
          <a:endParaRPr lang="en-IN"/>
        </a:p>
      </dgm:t>
    </dgm:pt>
    <dgm:pt modelId="{6CB994AB-9471-4F5B-ADCC-BE56D28005B1}" type="parTrans" cxnId="{D93DDE86-FFF9-4867-84CA-B89D1E1E8DAA}">
      <dgm:prSet/>
      <dgm:spPr/>
      <dgm:t>
        <a:bodyPr/>
        <a:lstStyle/>
        <a:p>
          <a:endParaRPr lang="en-IN"/>
        </a:p>
      </dgm:t>
    </dgm:pt>
    <dgm:pt modelId="{31A4D464-2FEF-438E-AD75-28FAE34A2DF4}" type="sibTrans" cxnId="{D93DDE86-FFF9-4867-84CA-B89D1E1E8DAA}">
      <dgm:prSet/>
      <dgm:spPr/>
      <dgm:t>
        <a:bodyPr/>
        <a:lstStyle/>
        <a:p>
          <a:endParaRPr lang="en-IN"/>
        </a:p>
      </dgm:t>
    </dgm:pt>
    <dgm:pt modelId="{745373B1-FDCF-4B26-BAFF-AC29223E2A73}">
      <dgm:prSet/>
      <dgm:spPr/>
      <dgm:t>
        <a:bodyPr/>
        <a:lstStyle/>
        <a:p>
          <a:r>
            <a:rPr lang="en-IN"/>
            <a:t>Financial metrics (Sales, Discount, Profit) </a:t>
          </a:r>
        </a:p>
      </dgm:t>
    </dgm:pt>
    <dgm:pt modelId="{F995F20F-F0E1-4E0E-9983-88F115945299}" type="parTrans" cxnId="{973FDA64-DE66-4373-AF70-60F50097BAF1}">
      <dgm:prSet/>
      <dgm:spPr/>
      <dgm:t>
        <a:bodyPr/>
        <a:lstStyle/>
        <a:p>
          <a:endParaRPr lang="en-IN"/>
        </a:p>
      </dgm:t>
    </dgm:pt>
    <dgm:pt modelId="{FC6D38EF-FF6C-4498-9BA7-4FE719F259A2}" type="sibTrans" cxnId="{973FDA64-DE66-4373-AF70-60F50097BAF1}">
      <dgm:prSet/>
      <dgm:spPr/>
      <dgm:t>
        <a:bodyPr/>
        <a:lstStyle/>
        <a:p>
          <a:endParaRPr lang="en-IN"/>
        </a:p>
      </dgm:t>
    </dgm:pt>
    <dgm:pt modelId="{063ADAF8-B879-444B-B9AD-2130717B2A0B}">
      <dgm:prSet/>
      <dgm:spPr/>
    </dgm:pt>
    <dgm:pt modelId="{52DEC2D4-B581-438B-95EA-0FCF1837DA1D}" type="parTrans" cxnId="{D59D00FF-6509-4425-B468-484CCD0B2DF2}">
      <dgm:prSet/>
      <dgm:spPr/>
      <dgm:t>
        <a:bodyPr/>
        <a:lstStyle/>
        <a:p>
          <a:endParaRPr lang="en-IN"/>
        </a:p>
      </dgm:t>
    </dgm:pt>
    <dgm:pt modelId="{C8B58E0F-0A6A-476E-A5A5-940934240E62}" type="sibTrans" cxnId="{D59D00FF-6509-4425-B468-484CCD0B2DF2}">
      <dgm:prSet/>
      <dgm:spPr/>
      <dgm:t>
        <a:bodyPr/>
        <a:lstStyle/>
        <a:p>
          <a:endParaRPr lang="en-IN"/>
        </a:p>
      </dgm:t>
    </dgm:pt>
    <dgm:pt modelId="{341F5ED6-13A7-4726-8614-C558805986AD}">
      <dgm:prSet/>
      <dgm:spPr/>
    </dgm:pt>
    <dgm:pt modelId="{C2EEE865-4893-42C4-A6B0-70DC8A865B53}" type="parTrans" cxnId="{06AEEA47-128F-4B69-8597-52BBD76C31C1}">
      <dgm:prSet/>
      <dgm:spPr/>
      <dgm:t>
        <a:bodyPr/>
        <a:lstStyle/>
        <a:p>
          <a:endParaRPr lang="en-IN"/>
        </a:p>
      </dgm:t>
    </dgm:pt>
    <dgm:pt modelId="{907B043C-F7F0-4FD4-BFBA-A7CB7A8D2E63}" type="sibTrans" cxnId="{06AEEA47-128F-4B69-8597-52BBD76C31C1}">
      <dgm:prSet/>
      <dgm:spPr/>
      <dgm:t>
        <a:bodyPr/>
        <a:lstStyle/>
        <a:p>
          <a:endParaRPr lang="en-IN"/>
        </a:p>
      </dgm:t>
    </dgm:pt>
    <dgm:pt modelId="{98EC00C2-E5D1-47D7-A6B7-7E30CEFAF156}" type="pres">
      <dgm:prSet presAssocID="{B111510A-8B9D-490D-A999-E67185896749}" presName="composite" presStyleCnt="0">
        <dgm:presLayoutVars>
          <dgm:chMax val="5"/>
          <dgm:dir/>
          <dgm:resizeHandles val="exact"/>
        </dgm:presLayoutVars>
      </dgm:prSet>
      <dgm:spPr/>
    </dgm:pt>
    <dgm:pt modelId="{E0463740-EEF1-4C3D-80FC-FAB732465858}" type="pres">
      <dgm:prSet presAssocID="{BA430595-D269-4580-B362-30A23227F331}" presName="circle1" presStyleLbl="lnNode1" presStyleIdx="0" presStyleCnt="5"/>
      <dgm:spPr/>
    </dgm:pt>
    <dgm:pt modelId="{96A763F3-533E-464A-B6F9-728917D8B0C0}" type="pres">
      <dgm:prSet presAssocID="{BA430595-D269-4580-B362-30A23227F331}" presName="text1" presStyleLbl="revTx" presStyleIdx="0" presStyleCnt="5">
        <dgm:presLayoutVars>
          <dgm:bulletEnabled val="1"/>
        </dgm:presLayoutVars>
      </dgm:prSet>
      <dgm:spPr/>
    </dgm:pt>
    <dgm:pt modelId="{D487EAEF-2CE5-49DA-B6A3-3B07ABA28153}" type="pres">
      <dgm:prSet presAssocID="{BA430595-D269-4580-B362-30A23227F331}" presName="line1" presStyleLbl="callout" presStyleIdx="0" presStyleCnt="10"/>
      <dgm:spPr/>
    </dgm:pt>
    <dgm:pt modelId="{8052DAC4-2E22-4723-BDF7-C028ABFA009B}" type="pres">
      <dgm:prSet presAssocID="{BA430595-D269-4580-B362-30A23227F331}" presName="d1" presStyleLbl="callout" presStyleIdx="1" presStyleCnt="10"/>
      <dgm:spPr/>
    </dgm:pt>
    <dgm:pt modelId="{136F8EE9-02D6-44D3-939E-955199AAF2A6}" type="pres">
      <dgm:prSet presAssocID="{14E1A138-5038-4913-A4F2-3DDD691B5BBE}" presName="circle2" presStyleLbl="lnNode1" presStyleIdx="1" presStyleCnt="5"/>
      <dgm:spPr/>
    </dgm:pt>
    <dgm:pt modelId="{C08A4D41-5D04-4C57-A97C-989C2E25E347}" type="pres">
      <dgm:prSet presAssocID="{14E1A138-5038-4913-A4F2-3DDD691B5BBE}" presName="text2" presStyleLbl="revTx" presStyleIdx="1" presStyleCnt="5">
        <dgm:presLayoutVars>
          <dgm:bulletEnabled val="1"/>
        </dgm:presLayoutVars>
      </dgm:prSet>
      <dgm:spPr/>
    </dgm:pt>
    <dgm:pt modelId="{3D16B3D2-B0C7-4607-94DC-1B5240025929}" type="pres">
      <dgm:prSet presAssocID="{14E1A138-5038-4913-A4F2-3DDD691B5BBE}" presName="line2" presStyleLbl="callout" presStyleIdx="2" presStyleCnt="10"/>
      <dgm:spPr/>
    </dgm:pt>
    <dgm:pt modelId="{874B5E55-153F-4A06-8D10-C231A092E3D3}" type="pres">
      <dgm:prSet presAssocID="{14E1A138-5038-4913-A4F2-3DDD691B5BBE}" presName="d2" presStyleLbl="callout" presStyleIdx="3" presStyleCnt="10"/>
      <dgm:spPr/>
    </dgm:pt>
    <dgm:pt modelId="{8F0791F0-DF70-4886-B442-82A7B4DBAAC7}" type="pres">
      <dgm:prSet presAssocID="{D2C526EF-EE8E-4FD3-BC56-7BB2F2212CEF}" presName="circle3" presStyleLbl="lnNode1" presStyleIdx="2" presStyleCnt="5"/>
      <dgm:spPr/>
    </dgm:pt>
    <dgm:pt modelId="{BF74AEF6-AAFA-458E-9558-FBE4FD0F30D7}" type="pres">
      <dgm:prSet presAssocID="{D2C526EF-EE8E-4FD3-BC56-7BB2F2212CEF}" presName="text3" presStyleLbl="revTx" presStyleIdx="2" presStyleCnt="5">
        <dgm:presLayoutVars>
          <dgm:bulletEnabled val="1"/>
        </dgm:presLayoutVars>
      </dgm:prSet>
      <dgm:spPr/>
    </dgm:pt>
    <dgm:pt modelId="{3222481B-BB06-456C-A068-EB21763365C8}" type="pres">
      <dgm:prSet presAssocID="{D2C526EF-EE8E-4FD3-BC56-7BB2F2212CEF}" presName="line3" presStyleLbl="callout" presStyleIdx="4" presStyleCnt="10"/>
      <dgm:spPr/>
    </dgm:pt>
    <dgm:pt modelId="{D75470F3-D733-495F-9FD3-EA210BD544D7}" type="pres">
      <dgm:prSet presAssocID="{D2C526EF-EE8E-4FD3-BC56-7BB2F2212CEF}" presName="d3" presStyleLbl="callout" presStyleIdx="5" presStyleCnt="10"/>
      <dgm:spPr/>
    </dgm:pt>
    <dgm:pt modelId="{98E26EB2-5640-4871-AA8F-757ED6A9021F}" type="pres">
      <dgm:prSet presAssocID="{109E0145-DD88-4D03-91B0-DED1A0EA8F77}" presName="circle4" presStyleLbl="lnNode1" presStyleIdx="3" presStyleCnt="5"/>
      <dgm:spPr/>
    </dgm:pt>
    <dgm:pt modelId="{2CBD2A07-8EF9-4B06-8491-B9830B29D447}" type="pres">
      <dgm:prSet presAssocID="{109E0145-DD88-4D03-91B0-DED1A0EA8F77}" presName="text4" presStyleLbl="revTx" presStyleIdx="3" presStyleCnt="5">
        <dgm:presLayoutVars>
          <dgm:bulletEnabled val="1"/>
        </dgm:presLayoutVars>
      </dgm:prSet>
      <dgm:spPr/>
    </dgm:pt>
    <dgm:pt modelId="{B4125334-1861-487E-8646-131554FCE990}" type="pres">
      <dgm:prSet presAssocID="{109E0145-DD88-4D03-91B0-DED1A0EA8F77}" presName="line4" presStyleLbl="callout" presStyleIdx="6" presStyleCnt="10"/>
      <dgm:spPr/>
    </dgm:pt>
    <dgm:pt modelId="{D00ACD7E-4F8C-4F7A-B915-5F9D28010386}" type="pres">
      <dgm:prSet presAssocID="{109E0145-DD88-4D03-91B0-DED1A0EA8F77}" presName="d4" presStyleLbl="callout" presStyleIdx="7" presStyleCnt="10"/>
      <dgm:spPr/>
    </dgm:pt>
    <dgm:pt modelId="{2193DE42-C362-45B1-BDC1-0BDB2CE8B1C2}" type="pres">
      <dgm:prSet presAssocID="{745373B1-FDCF-4B26-BAFF-AC29223E2A73}" presName="circle5" presStyleLbl="lnNode1" presStyleIdx="4" presStyleCnt="5"/>
      <dgm:spPr/>
    </dgm:pt>
    <dgm:pt modelId="{444E5B8B-29D7-403E-B0C0-BDF57CA7A831}" type="pres">
      <dgm:prSet presAssocID="{745373B1-FDCF-4B26-BAFF-AC29223E2A73}" presName="text5" presStyleLbl="revTx" presStyleIdx="4" presStyleCnt="5">
        <dgm:presLayoutVars>
          <dgm:bulletEnabled val="1"/>
        </dgm:presLayoutVars>
      </dgm:prSet>
      <dgm:spPr/>
    </dgm:pt>
    <dgm:pt modelId="{D55DE624-8A17-4278-ACDC-2B0C6B3E1787}" type="pres">
      <dgm:prSet presAssocID="{745373B1-FDCF-4B26-BAFF-AC29223E2A73}" presName="line5" presStyleLbl="callout" presStyleIdx="8" presStyleCnt="10"/>
      <dgm:spPr/>
    </dgm:pt>
    <dgm:pt modelId="{A93C9F77-E5B6-4090-B65E-F61A359A04FC}" type="pres">
      <dgm:prSet presAssocID="{745373B1-FDCF-4B26-BAFF-AC29223E2A73}" presName="d5" presStyleLbl="callout" presStyleIdx="9" presStyleCnt="10"/>
      <dgm:spPr/>
    </dgm:pt>
  </dgm:ptLst>
  <dgm:cxnLst>
    <dgm:cxn modelId="{95A76130-5A62-4EA2-8030-77D4C92E5968}" type="presOf" srcId="{109E0145-DD88-4D03-91B0-DED1A0EA8F77}" destId="{2CBD2A07-8EF9-4B06-8491-B9830B29D447}" srcOrd="0" destOrd="0" presId="urn:microsoft.com/office/officeart/2005/8/layout/target1"/>
    <dgm:cxn modelId="{973FDA64-DE66-4373-AF70-60F50097BAF1}" srcId="{B111510A-8B9D-490D-A999-E67185896749}" destId="{745373B1-FDCF-4B26-BAFF-AC29223E2A73}" srcOrd="4" destOrd="0" parTransId="{F995F20F-F0E1-4E0E-9983-88F115945299}" sibTransId="{FC6D38EF-FF6C-4498-9BA7-4FE719F259A2}"/>
    <dgm:cxn modelId="{BE658167-D8C5-4508-AD94-0B785BAC65C0}" srcId="{B111510A-8B9D-490D-A999-E67185896749}" destId="{D2C526EF-EE8E-4FD3-BC56-7BB2F2212CEF}" srcOrd="2" destOrd="0" parTransId="{2A104D43-76E5-40A9-8973-3895EFB31469}" sibTransId="{25B68EF2-2C79-4391-A540-9AFF262DFBAA}"/>
    <dgm:cxn modelId="{06AEEA47-128F-4B69-8597-52BBD76C31C1}" srcId="{B111510A-8B9D-490D-A999-E67185896749}" destId="{341F5ED6-13A7-4726-8614-C558805986AD}" srcOrd="6" destOrd="0" parTransId="{C2EEE865-4893-42C4-A6B0-70DC8A865B53}" sibTransId="{907B043C-F7F0-4FD4-BFBA-A7CB7A8D2E63}"/>
    <dgm:cxn modelId="{B5E9124A-B98B-49BC-9154-5784A2FC32D1}" srcId="{B111510A-8B9D-490D-A999-E67185896749}" destId="{14E1A138-5038-4913-A4F2-3DDD691B5BBE}" srcOrd="1" destOrd="0" parTransId="{57CECC62-31E8-4546-85A4-434F1326E201}" sibTransId="{9E19EEED-6ABE-4374-9C87-45F7F525EF37}"/>
    <dgm:cxn modelId="{60912871-5E4A-493F-BD22-581D64EDC0C3}" type="presOf" srcId="{14E1A138-5038-4913-A4F2-3DDD691B5BBE}" destId="{C08A4D41-5D04-4C57-A97C-989C2E25E347}" srcOrd="0" destOrd="0" presId="urn:microsoft.com/office/officeart/2005/8/layout/target1"/>
    <dgm:cxn modelId="{8445D151-BB78-4171-8F37-39421814026A}" type="presOf" srcId="{BA430595-D269-4580-B362-30A23227F331}" destId="{96A763F3-533E-464A-B6F9-728917D8B0C0}" srcOrd="0" destOrd="0" presId="urn:microsoft.com/office/officeart/2005/8/layout/target1"/>
    <dgm:cxn modelId="{94E68C78-F92B-481A-9AAD-672AF1578250}" srcId="{B111510A-8B9D-490D-A999-E67185896749}" destId="{BA430595-D269-4580-B362-30A23227F331}" srcOrd="0" destOrd="0" parTransId="{3BA9F15F-ACA2-43F3-B198-C66EC1CC5E72}" sibTransId="{2919945E-495D-4EE5-9482-2E0B56E99956}"/>
    <dgm:cxn modelId="{D93DDE86-FFF9-4867-84CA-B89D1E1E8DAA}" srcId="{B111510A-8B9D-490D-A999-E67185896749}" destId="{109E0145-DD88-4D03-91B0-DED1A0EA8F77}" srcOrd="3" destOrd="0" parTransId="{6CB994AB-9471-4F5B-ADCC-BE56D28005B1}" sibTransId="{31A4D464-2FEF-438E-AD75-28FAE34A2DF4}"/>
    <dgm:cxn modelId="{8A629BC7-2DF2-4B25-B0E4-60FC6F90E80A}" type="presOf" srcId="{745373B1-FDCF-4B26-BAFF-AC29223E2A73}" destId="{444E5B8B-29D7-403E-B0C0-BDF57CA7A831}" srcOrd="0" destOrd="0" presId="urn:microsoft.com/office/officeart/2005/8/layout/target1"/>
    <dgm:cxn modelId="{646F51EF-DB77-41AC-9C6F-6B046A5C7F70}" type="presOf" srcId="{B111510A-8B9D-490D-A999-E67185896749}" destId="{98EC00C2-E5D1-47D7-A6B7-7E30CEFAF156}" srcOrd="0" destOrd="0" presId="urn:microsoft.com/office/officeart/2005/8/layout/target1"/>
    <dgm:cxn modelId="{80AA86F8-2160-41E3-95CD-9AAD8AAA398E}" type="presOf" srcId="{D2C526EF-EE8E-4FD3-BC56-7BB2F2212CEF}" destId="{BF74AEF6-AAFA-458E-9558-FBE4FD0F30D7}" srcOrd="0" destOrd="0" presId="urn:microsoft.com/office/officeart/2005/8/layout/target1"/>
    <dgm:cxn modelId="{D59D00FF-6509-4425-B468-484CCD0B2DF2}" srcId="{B111510A-8B9D-490D-A999-E67185896749}" destId="{063ADAF8-B879-444B-B9AD-2130717B2A0B}" srcOrd="5" destOrd="0" parTransId="{52DEC2D4-B581-438B-95EA-0FCF1837DA1D}" sibTransId="{C8B58E0F-0A6A-476E-A5A5-940934240E62}"/>
    <dgm:cxn modelId="{CEEC2603-AED1-4A07-AFAA-B0D6A76133BF}" type="presParOf" srcId="{98EC00C2-E5D1-47D7-A6B7-7E30CEFAF156}" destId="{E0463740-EEF1-4C3D-80FC-FAB732465858}" srcOrd="0" destOrd="0" presId="urn:microsoft.com/office/officeart/2005/8/layout/target1"/>
    <dgm:cxn modelId="{6C639CD0-9FE3-4680-B32A-9D97586729F0}" type="presParOf" srcId="{98EC00C2-E5D1-47D7-A6B7-7E30CEFAF156}" destId="{96A763F3-533E-464A-B6F9-728917D8B0C0}" srcOrd="1" destOrd="0" presId="urn:microsoft.com/office/officeart/2005/8/layout/target1"/>
    <dgm:cxn modelId="{43F30529-0DDB-43D3-BAA1-F9D0C0F2A5AC}" type="presParOf" srcId="{98EC00C2-E5D1-47D7-A6B7-7E30CEFAF156}" destId="{D487EAEF-2CE5-49DA-B6A3-3B07ABA28153}" srcOrd="2" destOrd="0" presId="urn:microsoft.com/office/officeart/2005/8/layout/target1"/>
    <dgm:cxn modelId="{76E21F03-0016-46CA-AE78-D4A7EBD3B6D7}" type="presParOf" srcId="{98EC00C2-E5D1-47D7-A6B7-7E30CEFAF156}" destId="{8052DAC4-2E22-4723-BDF7-C028ABFA009B}" srcOrd="3" destOrd="0" presId="urn:microsoft.com/office/officeart/2005/8/layout/target1"/>
    <dgm:cxn modelId="{FAC300FA-5321-412E-B9B5-4849F43141F3}" type="presParOf" srcId="{98EC00C2-E5D1-47D7-A6B7-7E30CEFAF156}" destId="{136F8EE9-02D6-44D3-939E-955199AAF2A6}" srcOrd="4" destOrd="0" presId="urn:microsoft.com/office/officeart/2005/8/layout/target1"/>
    <dgm:cxn modelId="{DEFE9FFC-F7CC-45F5-909E-DEFEB18EE84E}" type="presParOf" srcId="{98EC00C2-E5D1-47D7-A6B7-7E30CEFAF156}" destId="{C08A4D41-5D04-4C57-A97C-989C2E25E347}" srcOrd="5" destOrd="0" presId="urn:microsoft.com/office/officeart/2005/8/layout/target1"/>
    <dgm:cxn modelId="{0494CB8A-E5E3-489B-8BBB-2CBB41186E42}" type="presParOf" srcId="{98EC00C2-E5D1-47D7-A6B7-7E30CEFAF156}" destId="{3D16B3D2-B0C7-4607-94DC-1B5240025929}" srcOrd="6" destOrd="0" presId="urn:microsoft.com/office/officeart/2005/8/layout/target1"/>
    <dgm:cxn modelId="{687B5FD0-152C-4AD2-BB44-CDB38E383A36}" type="presParOf" srcId="{98EC00C2-E5D1-47D7-A6B7-7E30CEFAF156}" destId="{874B5E55-153F-4A06-8D10-C231A092E3D3}" srcOrd="7" destOrd="0" presId="urn:microsoft.com/office/officeart/2005/8/layout/target1"/>
    <dgm:cxn modelId="{0873F52A-47B6-49A8-B97F-C502B4EB73F6}" type="presParOf" srcId="{98EC00C2-E5D1-47D7-A6B7-7E30CEFAF156}" destId="{8F0791F0-DF70-4886-B442-82A7B4DBAAC7}" srcOrd="8" destOrd="0" presId="urn:microsoft.com/office/officeart/2005/8/layout/target1"/>
    <dgm:cxn modelId="{6E3B6683-34F7-47DD-AD77-147D959D7DB0}" type="presParOf" srcId="{98EC00C2-E5D1-47D7-A6B7-7E30CEFAF156}" destId="{BF74AEF6-AAFA-458E-9558-FBE4FD0F30D7}" srcOrd="9" destOrd="0" presId="urn:microsoft.com/office/officeart/2005/8/layout/target1"/>
    <dgm:cxn modelId="{F751B11B-8BF3-4174-81A2-BA8E80EEFA6C}" type="presParOf" srcId="{98EC00C2-E5D1-47D7-A6B7-7E30CEFAF156}" destId="{3222481B-BB06-456C-A068-EB21763365C8}" srcOrd="10" destOrd="0" presId="urn:microsoft.com/office/officeart/2005/8/layout/target1"/>
    <dgm:cxn modelId="{4274C2EC-3554-4CD6-AD1C-C9647AF30CBA}" type="presParOf" srcId="{98EC00C2-E5D1-47D7-A6B7-7E30CEFAF156}" destId="{D75470F3-D733-495F-9FD3-EA210BD544D7}" srcOrd="11" destOrd="0" presId="urn:microsoft.com/office/officeart/2005/8/layout/target1"/>
    <dgm:cxn modelId="{B974E878-158E-403A-AA42-2D8A765433EE}" type="presParOf" srcId="{98EC00C2-E5D1-47D7-A6B7-7E30CEFAF156}" destId="{98E26EB2-5640-4871-AA8F-757ED6A9021F}" srcOrd="12" destOrd="0" presId="urn:microsoft.com/office/officeart/2005/8/layout/target1"/>
    <dgm:cxn modelId="{C0593836-3FFF-4CB2-918C-1B5FD1468D7C}" type="presParOf" srcId="{98EC00C2-E5D1-47D7-A6B7-7E30CEFAF156}" destId="{2CBD2A07-8EF9-4B06-8491-B9830B29D447}" srcOrd="13" destOrd="0" presId="urn:microsoft.com/office/officeart/2005/8/layout/target1"/>
    <dgm:cxn modelId="{E592DE64-3676-4FF2-B090-00FE651DEB05}" type="presParOf" srcId="{98EC00C2-E5D1-47D7-A6B7-7E30CEFAF156}" destId="{B4125334-1861-487E-8646-131554FCE990}" srcOrd="14" destOrd="0" presId="urn:microsoft.com/office/officeart/2005/8/layout/target1"/>
    <dgm:cxn modelId="{03D99241-FDA9-45EB-B321-355C59D65189}" type="presParOf" srcId="{98EC00C2-E5D1-47D7-A6B7-7E30CEFAF156}" destId="{D00ACD7E-4F8C-4F7A-B915-5F9D28010386}" srcOrd="15" destOrd="0" presId="urn:microsoft.com/office/officeart/2005/8/layout/target1"/>
    <dgm:cxn modelId="{A7F3807D-2DD2-4603-A713-4AB407BFCDD5}" type="presParOf" srcId="{98EC00C2-E5D1-47D7-A6B7-7E30CEFAF156}" destId="{2193DE42-C362-45B1-BDC1-0BDB2CE8B1C2}" srcOrd="16" destOrd="0" presId="urn:microsoft.com/office/officeart/2005/8/layout/target1"/>
    <dgm:cxn modelId="{11B7109E-3B68-47DA-923F-E3D856100127}" type="presParOf" srcId="{98EC00C2-E5D1-47D7-A6B7-7E30CEFAF156}" destId="{444E5B8B-29D7-403E-B0C0-BDF57CA7A831}" srcOrd="17" destOrd="0" presId="urn:microsoft.com/office/officeart/2005/8/layout/target1"/>
    <dgm:cxn modelId="{8B18B288-6959-466A-BEE3-08AA6D346E2F}" type="presParOf" srcId="{98EC00C2-E5D1-47D7-A6B7-7E30CEFAF156}" destId="{D55DE624-8A17-4278-ACDC-2B0C6B3E1787}" srcOrd="18" destOrd="0" presId="urn:microsoft.com/office/officeart/2005/8/layout/target1"/>
    <dgm:cxn modelId="{C97719C8-522F-4081-9C89-A752D297F338}" type="presParOf" srcId="{98EC00C2-E5D1-47D7-A6B7-7E30CEFAF156}" destId="{A93C9F77-E5B6-4090-B65E-F61A359A04FC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4EA6D0-1368-4895-825A-98DDA9CE00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AB33F37-65F5-4BA3-882C-C38585B4B7B4}">
      <dgm:prSet/>
      <dgm:spPr/>
      <dgm:t>
        <a:bodyPr/>
        <a:lstStyle/>
        <a:p>
          <a:r>
            <a:rPr lang="en-IN" b="1"/>
            <a:t>Excel </a:t>
          </a:r>
          <a:r>
            <a:rPr lang="en-IN"/>
            <a:t>– Initial data understanding &amp; validation </a:t>
          </a:r>
        </a:p>
      </dgm:t>
    </dgm:pt>
    <dgm:pt modelId="{79721F4E-BF6D-49EE-A4E6-771E3FA8743A}" type="parTrans" cxnId="{5F2B771A-105A-4FC8-901B-D026E82DBF12}">
      <dgm:prSet/>
      <dgm:spPr/>
      <dgm:t>
        <a:bodyPr/>
        <a:lstStyle/>
        <a:p>
          <a:endParaRPr lang="en-IN"/>
        </a:p>
      </dgm:t>
    </dgm:pt>
    <dgm:pt modelId="{D78C7156-F355-4F8B-A332-1D140F223936}" type="sibTrans" cxnId="{5F2B771A-105A-4FC8-901B-D026E82DBF12}">
      <dgm:prSet/>
      <dgm:spPr/>
      <dgm:t>
        <a:bodyPr/>
        <a:lstStyle/>
        <a:p>
          <a:endParaRPr lang="en-IN"/>
        </a:p>
      </dgm:t>
    </dgm:pt>
    <dgm:pt modelId="{C7414631-B77D-41D9-9D3D-1E7C529F6058}">
      <dgm:prSet/>
      <dgm:spPr/>
      <dgm:t>
        <a:bodyPr/>
        <a:lstStyle/>
        <a:p>
          <a:r>
            <a:rPr lang="en-US" b="1"/>
            <a:t>SQL </a:t>
          </a:r>
          <a:r>
            <a:rPr lang="en-US"/>
            <a:t>– Structured querying &amp; business-level analysis </a:t>
          </a:r>
          <a:endParaRPr lang="en-IN"/>
        </a:p>
      </dgm:t>
    </dgm:pt>
    <dgm:pt modelId="{30AF3AF5-4B37-40E5-AC6B-63E49FDEA976}" type="parTrans" cxnId="{C7D013F1-2E23-4BC0-A91B-03D000CC8723}">
      <dgm:prSet/>
      <dgm:spPr/>
      <dgm:t>
        <a:bodyPr/>
        <a:lstStyle/>
        <a:p>
          <a:endParaRPr lang="en-IN"/>
        </a:p>
      </dgm:t>
    </dgm:pt>
    <dgm:pt modelId="{54F949F1-84FC-464A-AE21-29B06E2ADF83}" type="sibTrans" cxnId="{C7D013F1-2E23-4BC0-A91B-03D000CC8723}">
      <dgm:prSet/>
      <dgm:spPr/>
      <dgm:t>
        <a:bodyPr/>
        <a:lstStyle/>
        <a:p>
          <a:endParaRPr lang="en-IN"/>
        </a:p>
      </dgm:t>
    </dgm:pt>
    <dgm:pt modelId="{1D706292-27E3-4ECE-A11D-9176629BD1DC}">
      <dgm:prSet/>
      <dgm:spPr/>
      <dgm:t>
        <a:bodyPr/>
        <a:lstStyle/>
        <a:p>
          <a:r>
            <a:rPr lang="en-US" b="1"/>
            <a:t>Python </a:t>
          </a:r>
          <a:r>
            <a:rPr lang="en-US"/>
            <a:t>– Data cleaning, EDA, feature engineering </a:t>
          </a:r>
          <a:endParaRPr lang="en-IN"/>
        </a:p>
      </dgm:t>
    </dgm:pt>
    <dgm:pt modelId="{19B9DF7B-117F-4F7F-8D0C-A26F28778D1C}" type="parTrans" cxnId="{82DA0F19-B08E-4474-94B5-6002EC595491}">
      <dgm:prSet/>
      <dgm:spPr/>
      <dgm:t>
        <a:bodyPr/>
        <a:lstStyle/>
        <a:p>
          <a:endParaRPr lang="en-IN"/>
        </a:p>
      </dgm:t>
    </dgm:pt>
    <dgm:pt modelId="{D2B8A5EF-A314-4A90-9309-21918B69E91C}" type="sibTrans" cxnId="{82DA0F19-B08E-4474-94B5-6002EC595491}">
      <dgm:prSet/>
      <dgm:spPr/>
      <dgm:t>
        <a:bodyPr/>
        <a:lstStyle/>
        <a:p>
          <a:endParaRPr lang="en-IN"/>
        </a:p>
      </dgm:t>
    </dgm:pt>
    <dgm:pt modelId="{13480F08-6D40-4477-8ECD-7917CDADED01}">
      <dgm:prSet/>
      <dgm:spPr/>
      <dgm:t>
        <a:bodyPr/>
        <a:lstStyle/>
        <a:p>
          <a:r>
            <a:rPr lang="en-US" b="1"/>
            <a:t>Machine Learning (Scikit-learn) </a:t>
          </a:r>
          <a:r>
            <a:rPr lang="en-US"/>
            <a:t>– Model development </a:t>
          </a:r>
          <a:endParaRPr lang="en-IN"/>
        </a:p>
      </dgm:t>
    </dgm:pt>
    <dgm:pt modelId="{67169897-EE38-4F98-B5C8-9F14A407C5BF}" type="parTrans" cxnId="{9C7E0418-55C4-4387-B04D-F8FD13587E8C}">
      <dgm:prSet/>
      <dgm:spPr/>
      <dgm:t>
        <a:bodyPr/>
        <a:lstStyle/>
        <a:p>
          <a:endParaRPr lang="en-IN"/>
        </a:p>
      </dgm:t>
    </dgm:pt>
    <dgm:pt modelId="{5E3D0286-CE29-47F0-B99A-CFE05DF40EDD}" type="sibTrans" cxnId="{9C7E0418-55C4-4387-B04D-F8FD13587E8C}">
      <dgm:prSet/>
      <dgm:spPr/>
      <dgm:t>
        <a:bodyPr/>
        <a:lstStyle/>
        <a:p>
          <a:endParaRPr lang="en-IN"/>
        </a:p>
      </dgm:t>
    </dgm:pt>
    <dgm:pt modelId="{EBE09F2A-37BD-4732-8A5F-45137A6B9F44}">
      <dgm:prSet/>
      <dgm:spPr/>
      <dgm:t>
        <a:bodyPr/>
        <a:lstStyle/>
        <a:p>
          <a:r>
            <a:rPr lang="en-US" b="1"/>
            <a:t>Streamlit </a:t>
          </a:r>
          <a:r>
            <a:rPr lang="en-US"/>
            <a:t>– Model deployment &amp; dashboard creation </a:t>
          </a:r>
          <a:endParaRPr lang="en-IN"/>
        </a:p>
      </dgm:t>
    </dgm:pt>
    <dgm:pt modelId="{CB1059FB-4DA6-4AB5-8A57-5A9E686039E4}" type="parTrans" cxnId="{8D735001-87D1-47B0-95DE-1C5132686F9D}">
      <dgm:prSet/>
      <dgm:spPr/>
      <dgm:t>
        <a:bodyPr/>
        <a:lstStyle/>
        <a:p>
          <a:endParaRPr lang="en-IN"/>
        </a:p>
      </dgm:t>
    </dgm:pt>
    <dgm:pt modelId="{FC9E3C13-3D78-48A3-98D5-6305B0309EA1}" type="sibTrans" cxnId="{8D735001-87D1-47B0-95DE-1C5132686F9D}">
      <dgm:prSet/>
      <dgm:spPr/>
      <dgm:t>
        <a:bodyPr/>
        <a:lstStyle/>
        <a:p>
          <a:endParaRPr lang="en-IN"/>
        </a:p>
      </dgm:t>
    </dgm:pt>
    <dgm:pt modelId="{6B2A5512-DA0E-4B95-8F83-904A32726ABE}" type="pres">
      <dgm:prSet presAssocID="{984EA6D0-1368-4895-825A-98DDA9CE004F}" presName="linear" presStyleCnt="0">
        <dgm:presLayoutVars>
          <dgm:animLvl val="lvl"/>
          <dgm:resizeHandles val="exact"/>
        </dgm:presLayoutVars>
      </dgm:prSet>
      <dgm:spPr/>
    </dgm:pt>
    <dgm:pt modelId="{802266A5-3D4D-461A-9185-42CF1E924A80}" type="pres">
      <dgm:prSet presAssocID="{2AB33F37-65F5-4BA3-882C-C38585B4B7B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5DE5724-7589-40A3-B364-A096DD3ACE69}" type="pres">
      <dgm:prSet presAssocID="{D78C7156-F355-4F8B-A332-1D140F223936}" presName="spacer" presStyleCnt="0"/>
      <dgm:spPr/>
    </dgm:pt>
    <dgm:pt modelId="{4F951FA7-368B-4DA3-857D-489BED87BE13}" type="pres">
      <dgm:prSet presAssocID="{C7414631-B77D-41D9-9D3D-1E7C529F605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D9D2BAB-C5F5-4615-961B-96A0F0AE7D6F}" type="pres">
      <dgm:prSet presAssocID="{54F949F1-84FC-464A-AE21-29B06E2ADF83}" presName="spacer" presStyleCnt="0"/>
      <dgm:spPr/>
    </dgm:pt>
    <dgm:pt modelId="{0A4252EE-C49A-412E-B9BF-07AFE7076C8D}" type="pres">
      <dgm:prSet presAssocID="{1D706292-27E3-4ECE-A11D-9176629BD1D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FC31D2A-2E0C-4ED5-9A9E-007721ABF2ED}" type="pres">
      <dgm:prSet presAssocID="{D2B8A5EF-A314-4A90-9309-21918B69E91C}" presName="spacer" presStyleCnt="0"/>
      <dgm:spPr/>
    </dgm:pt>
    <dgm:pt modelId="{A2F1B821-0993-45F0-810F-53FAD46CD97B}" type="pres">
      <dgm:prSet presAssocID="{13480F08-6D40-4477-8ECD-7917CDADED0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E23757B-4504-4E00-98B3-C387634B8851}" type="pres">
      <dgm:prSet presAssocID="{5E3D0286-CE29-47F0-B99A-CFE05DF40EDD}" presName="spacer" presStyleCnt="0"/>
      <dgm:spPr/>
    </dgm:pt>
    <dgm:pt modelId="{3BA2F19A-B352-407F-AFAC-325F2A5901DA}" type="pres">
      <dgm:prSet presAssocID="{EBE09F2A-37BD-4732-8A5F-45137A6B9F4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D735001-87D1-47B0-95DE-1C5132686F9D}" srcId="{984EA6D0-1368-4895-825A-98DDA9CE004F}" destId="{EBE09F2A-37BD-4732-8A5F-45137A6B9F44}" srcOrd="4" destOrd="0" parTransId="{CB1059FB-4DA6-4AB5-8A57-5A9E686039E4}" sibTransId="{FC9E3C13-3D78-48A3-98D5-6305B0309EA1}"/>
    <dgm:cxn modelId="{9C7E0418-55C4-4387-B04D-F8FD13587E8C}" srcId="{984EA6D0-1368-4895-825A-98DDA9CE004F}" destId="{13480F08-6D40-4477-8ECD-7917CDADED01}" srcOrd="3" destOrd="0" parTransId="{67169897-EE38-4F98-B5C8-9F14A407C5BF}" sibTransId="{5E3D0286-CE29-47F0-B99A-CFE05DF40EDD}"/>
    <dgm:cxn modelId="{82DA0F19-B08E-4474-94B5-6002EC595491}" srcId="{984EA6D0-1368-4895-825A-98DDA9CE004F}" destId="{1D706292-27E3-4ECE-A11D-9176629BD1DC}" srcOrd="2" destOrd="0" parTransId="{19B9DF7B-117F-4F7F-8D0C-A26F28778D1C}" sibTransId="{D2B8A5EF-A314-4A90-9309-21918B69E91C}"/>
    <dgm:cxn modelId="{5F2B771A-105A-4FC8-901B-D026E82DBF12}" srcId="{984EA6D0-1368-4895-825A-98DDA9CE004F}" destId="{2AB33F37-65F5-4BA3-882C-C38585B4B7B4}" srcOrd="0" destOrd="0" parTransId="{79721F4E-BF6D-49EE-A4E6-771E3FA8743A}" sibTransId="{D78C7156-F355-4F8B-A332-1D140F223936}"/>
    <dgm:cxn modelId="{CB4A3026-15D2-40EC-95B1-577547BF6141}" type="presOf" srcId="{13480F08-6D40-4477-8ECD-7917CDADED01}" destId="{A2F1B821-0993-45F0-810F-53FAD46CD97B}" srcOrd="0" destOrd="0" presId="urn:microsoft.com/office/officeart/2005/8/layout/vList2"/>
    <dgm:cxn modelId="{B41F044C-50B8-42C6-BE98-E2D5B71ADAAF}" type="presOf" srcId="{984EA6D0-1368-4895-825A-98DDA9CE004F}" destId="{6B2A5512-DA0E-4B95-8F83-904A32726ABE}" srcOrd="0" destOrd="0" presId="urn:microsoft.com/office/officeart/2005/8/layout/vList2"/>
    <dgm:cxn modelId="{CF072E50-6EE5-4F64-9BA0-E4FB857F5F8D}" type="presOf" srcId="{1D706292-27E3-4ECE-A11D-9176629BD1DC}" destId="{0A4252EE-C49A-412E-B9BF-07AFE7076C8D}" srcOrd="0" destOrd="0" presId="urn:microsoft.com/office/officeart/2005/8/layout/vList2"/>
    <dgm:cxn modelId="{A0492575-A59D-4B61-AE5A-93F0357CDAE0}" type="presOf" srcId="{EBE09F2A-37BD-4732-8A5F-45137A6B9F44}" destId="{3BA2F19A-B352-407F-AFAC-325F2A5901DA}" srcOrd="0" destOrd="0" presId="urn:microsoft.com/office/officeart/2005/8/layout/vList2"/>
    <dgm:cxn modelId="{7EBBDA58-EC94-463F-AB37-562124C74F35}" type="presOf" srcId="{C7414631-B77D-41D9-9D3D-1E7C529F6058}" destId="{4F951FA7-368B-4DA3-857D-489BED87BE13}" srcOrd="0" destOrd="0" presId="urn:microsoft.com/office/officeart/2005/8/layout/vList2"/>
    <dgm:cxn modelId="{0B26337C-CA50-42D7-A892-52691D7FE7CD}" type="presOf" srcId="{2AB33F37-65F5-4BA3-882C-C38585B4B7B4}" destId="{802266A5-3D4D-461A-9185-42CF1E924A80}" srcOrd="0" destOrd="0" presId="urn:microsoft.com/office/officeart/2005/8/layout/vList2"/>
    <dgm:cxn modelId="{C7D013F1-2E23-4BC0-A91B-03D000CC8723}" srcId="{984EA6D0-1368-4895-825A-98DDA9CE004F}" destId="{C7414631-B77D-41D9-9D3D-1E7C529F6058}" srcOrd="1" destOrd="0" parTransId="{30AF3AF5-4B37-40E5-AC6B-63E49FDEA976}" sibTransId="{54F949F1-84FC-464A-AE21-29B06E2ADF83}"/>
    <dgm:cxn modelId="{F0A7E3B1-2B7C-47C8-B8A4-9695D8FBBA59}" type="presParOf" srcId="{6B2A5512-DA0E-4B95-8F83-904A32726ABE}" destId="{802266A5-3D4D-461A-9185-42CF1E924A80}" srcOrd="0" destOrd="0" presId="urn:microsoft.com/office/officeart/2005/8/layout/vList2"/>
    <dgm:cxn modelId="{4D21556A-CD19-478B-8B45-192E2204A8ED}" type="presParOf" srcId="{6B2A5512-DA0E-4B95-8F83-904A32726ABE}" destId="{A5DE5724-7589-40A3-B364-A096DD3ACE69}" srcOrd="1" destOrd="0" presId="urn:microsoft.com/office/officeart/2005/8/layout/vList2"/>
    <dgm:cxn modelId="{66EBCAD1-8D12-4F29-BE35-0A7F3030A9C6}" type="presParOf" srcId="{6B2A5512-DA0E-4B95-8F83-904A32726ABE}" destId="{4F951FA7-368B-4DA3-857D-489BED87BE13}" srcOrd="2" destOrd="0" presId="urn:microsoft.com/office/officeart/2005/8/layout/vList2"/>
    <dgm:cxn modelId="{FD46EE57-C866-40BE-BA2E-0F6B45554B1C}" type="presParOf" srcId="{6B2A5512-DA0E-4B95-8F83-904A32726ABE}" destId="{CD9D2BAB-C5F5-4615-961B-96A0F0AE7D6F}" srcOrd="3" destOrd="0" presId="urn:microsoft.com/office/officeart/2005/8/layout/vList2"/>
    <dgm:cxn modelId="{92765769-0C1D-476A-B1AD-60354975F14A}" type="presParOf" srcId="{6B2A5512-DA0E-4B95-8F83-904A32726ABE}" destId="{0A4252EE-C49A-412E-B9BF-07AFE7076C8D}" srcOrd="4" destOrd="0" presId="urn:microsoft.com/office/officeart/2005/8/layout/vList2"/>
    <dgm:cxn modelId="{24C4D1AD-AB70-4AF7-B7CD-3D06DDC6B988}" type="presParOf" srcId="{6B2A5512-DA0E-4B95-8F83-904A32726ABE}" destId="{FFC31D2A-2E0C-4ED5-9A9E-007721ABF2ED}" srcOrd="5" destOrd="0" presId="urn:microsoft.com/office/officeart/2005/8/layout/vList2"/>
    <dgm:cxn modelId="{4AA9EA8E-FF40-4753-B36D-C43E45D9FF13}" type="presParOf" srcId="{6B2A5512-DA0E-4B95-8F83-904A32726ABE}" destId="{A2F1B821-0993-45F0-810F-53FAD46CD97B}" srcOrd="6" destOrd="0" presId="urn:microsoft.com/office/officeart/2005/8/layout/vList2"/>
    <dgm:cxn modelId="{74DA745E-E825-431B-AF06-7A5F4212A0C3}" type="presParOf" srcId="{6B2A5512-DA0E-4B95-8F83-904A32726ABE}" destId="{DE23757B-4504-4E00-98B3-C387634B8851}" srcOrd="7" destOrd="0" presId="urn:microsoft.com/office/officeart/2005/8/layout/vList2"/>
    <dgm:cxn modelId="{8324D02F-915A-4B7C-AC8F-0788304E5EF4}" type="presParOf" srcId="{6B2A5512-DA0E-4B95-8F83-904A32726ABE}" destId="{3BA2F19A-B352-407F-AFAC-325F2A5901D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69A0A0-097F-4088-B889-212DA9D6659A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C517F78-1D89-4770-AE65-6E6FC258C621}">
      <dgm:prSet/>
      <dgm:spPr/>
      <dgm:t>
        <a:bodyPr/>
        <a:lstStyle/>
        <a:p>
          <a:r>
            <a:rPr lang="en-US"/>
            <a:t>Python was used for deeper data preparation: </a:t>
          </a:r>
          <a:endParaRPr lang="en-IN"/>
        </a:p>
      </dgm:t>
    </dgm:pt>
    <dgm:pt modelId="{DB1AB140-2225-4E6E-9692-640FE15F93C9}" type="parTrans" cxnId="{D3B7DEDB-3A24-41A1-B2B5-C45ACFDEE87B}">
      <dgm:prSet/>
      <dgm:spPr/>
      <dgm:t>
        <a:bodyPr/>
        <a:lstStyle/>
        <a:p>
          <a:endParaRPr lang="en-IN"/>
        </a:p>
      </dgm:t>
    </dgm:pt>
    <dgm:pt modelId="{E0367041-9823-4A20-8228-E0C54E2FEE26}" type="sibTrans" cxnId="{D3B7DEDB-3A24-41A1-B2B5-C45ACFDEE87B}">
      <dgm:prSet/>
      <dgm:spPr/>
      <dgm:t>
        <a:bodyPr/>
        <a:lstStyle/>
        <a:p>
          <a:endParaRPr lang="en-IN"/>
        </a:p>
      </dgm:t>
    </dgm:pt>
    <dgm:pt modelId="{B5245B8D-143A-4F51-BE63-DB3C42BA7A25}">
      <dgm:prSet/>
      <dgm:spPr/>
      <dgm:t>
        <a:bodyPr/>
        <a:lstStyle/>
        <a:p>
          <a:r>
            <a:rPr lang="en-US"/>
            <a:t>Cleaned and standardized column names </a:t>
          </a:r>
          <a:endParaRPr lang="en-IN"/>
        </a:p>
      </dgm:t>
    </dgm:pt>
    <dgm:pt modelId="{C325CDCA-9685-4902-8108-08F2DB2F777C}" type="parTrans" cxnId="{16183433-99DE-4E88-B20E-EAB57F941A79}">
      <dgm:prSet/>
      <dgm:spPr/>
      <dgm:t>
        <a:bodyPr/>
        <a:lstStyle/>
        <a:p>
          <a:endParaRPr lang="en-IN"/>
        </a:p>
      </dgm:t>
    </dgm:pt>
    <dgm:pt modelId="{0DAFB32F-6AB9-4F22-9CD3-F06EE4AA8F59}" type="sibTrans" cxnId="{16183433-99DE-4E88-B20E-EAB57F941A79}">
      <dgm:prSet/>
      <dgm:spPr/>
      <dgm:t>
        <a:bodyPr/>
        <a:lstStyle/>
        <a:p>
          <a:endParaRPr lang="en-IN"/>
        </a:p>
      </dgm:t>
    </dgm:pt>
    <dgm:pt modelId="{809AD214-1B32-4E38-BC08-0F023134C61B}">
      <dgm:prSet/>
      <dgm:spPr/>
      <dgm:t>
        <a:bodyPr/>
        <a:lstStyle/>
        <a:p>
          <a:r>
            <a:rPr lang="en-US"/>
            <a:t>Converted numerical and date fields to proper formats </a:t>
          </a:r>
          <a:endParaRPr lang="en-IN"/>
        </a:p>
      </dgm:t>
    </dgm:pt>
    <dgm:pt modelId="{13EC073B-50B1-4692-8295-79B2D8370825}" type="parTrans" cxnId="{4BE718DF-090D-41B2-B7BD-9CBAFEFD5C92}">
      <dgm:prSet/>
      <dgm:spPr/>
      <dgm:t>
        <a:bodyPr/>
        <a:lstStyle/>
        <a:p>
          <a:endParaRPr lang="en-IN"/>
        </a:p>
      </dgm:t>
    </dgm:pt>
    <dgm:pt modelId="{1DB90F34-2333-462B-9C26-8934C34D4D05}" type="sibTrans" cxnId="{4BE718DF-090D-41B2-B7BD-9CBAFEFD5C92}">
      <dgm:prSet/>
      <dgm:spPr/>
      <dgm:t>
        <a:bodyPr/>
        <a:lstStyle/>
        <a:p>
          <a:endParaRPr lang="en-IN"/>
        </a:p>
      </dgm:t>
    </dgm:pt>
    <dgm:pt modelId="{0602FD39-2388-490B-9FBE-9A5B4D47E95E}">
      <dgm:prSet/>
      <dgm:spPr/>
      <dgm:t>
        <a:bodyPr/>
        <a:lstStyle/>
        <a:p>
          <a:r>
            <a:rPr lang="en-IN"/>
            <a:t>Removed irrelevant columns for modeling </a:t>
          </a:r>
        </a:p>
      </dgm:t>
    </dgm:pt>
    <dgm:pt modelId="{D36003D8-72F1-49E3-8056-8D413152EB2E}" type="parTrans" cxnId="{B876BCC3-F154-46C9-B906-6500BF4ADA6D}">
      <dgm:prSet/>
      <dgm:spPr/>
      <dgm:t>
        <a:bodyPr/>
        <a:lstStyle/>
        <a:p>
          <a:endParaRPr lang="en-IN"/>
        </a:p>
      </dgm:t>
    </dgm:pt>
    <dgm:pt modelId="{FC69A512-666D-416B-A338-A262B5CBE321}" type="sibTrans" cxnId="{B876BCC3-F154-46C9-B906-6500BF4ADA6D}">
      <dgm:prSet/>
      <dgm:spPr/>
      <dgm:t>
        <a:bodyPr/>
        <a:lstStyle/>
        <a:p>
          <a:endParaRPr lang="en-IN"/>
        </a:p>
      </dgm:t>
    </dgm:pt>
    <dgm:pt modelId="{9A70ACCE-1428-4F87-9AB1-98C6069A1D83}">
      <dgm:prSet/>
      <dgm:spPr/>
      <dgm:t>
        <a:bodyPr/>
        <a:lstStyle/>
        <a:p>
          <a:r>
            <a:rPr lang="en-US"/>
            <a:t>Handled encoding of categorical variables </a:t>
          </a:r>
          <a:endParaRPr lang="en-IN"/>
        </a:p>
      </dgm:t>
    </dgm:pt>
    <dgm:pt modelId="{7C716444-FA19-494A-8665-60DEA68C61A7}" type="parTrans" cxnId="{1030A017-AB4F-4819-88DE-5D30705A0871}">
      <dgm:prSet/>
      <dgm:spPr/>
      <dgm:t>
        <a:bodyPr/>
        <a:lstStyle/>
        <a:p>
          <a:endParaRPr lang="en-IN"/>
        </a:p>
      </dgm:t>
    </dgm:pt>
    <dgm:pt modelId="{9C80D96A-3A31-4328-A0B8-1E72AE9787FB}" type="sibTrans" cxnId="{1030A017-AB4F-4819-88DE-5D30705A0871}">
      <dgm:prSet/>
      <dgm:spPr/>
      <dgm:t>
        <a:bodyPr/>
        <a:lstStyle/>
        <a:p>
          <a:endParaRPr lang="en-IN"/>
        </a:p>
      </dgm:t>
    </dgm:pt>
    <dgm:pt modelId="{CB0844B0-3713-430F-B9DF-059FD2AA4ECD}">
      <dgm:prSet/>
      <dgm:spPr/>
      <dgm:t>
        <a:bodyPr/>
        <a:lstStyle/>
        <a:p>
          <a:r>
            <a:rPr lang="en-US"/>
            <a:t>Prepared a clean dataset suitable for machine learning </a:t>
          </a:r>
          <a:endParaRPr lang="en-IN"/>
        </a:p>
      </dgm:t>
    </dgm:pt>
    <dgm:pt modelId="{44AE61ED-FA24-42B0-B6F4-707392B0F454}" type="parTrans" cxnId="{A5D9487D-CAF1-4DDB-A19D-B9AC8FC7288B}">
      <dgm:prSet/>
      <dgm:spPr/>
      <dgm:t>
        <a:bodyPr/>
        <a:lstStyle/>
        <a:p>
          <a:endParaRPr lang="en-IN"/>
        </a:p>
      </dgm:t>
    </dgm:pt>
    <dgm:pt modelId="{B4018F4E-7E3E-43BF-9152-AE5BA1904CDD}" type="sibTrans" cxnId="{A5D9487D-CAF1-4DDB-A19D-B9AC8FC7288B}">
      <dgm:prSet/>
      <dgm:spPr/>
      <dgm:t>
        <a:bodyPr/>
        <a:lstStyle/>
        <a:p>
          <a:endParaRPr lang="en-IN"/>
        </a:p>
      </dgm:t>
    </dgm:pt>
    <dgm:pt modelId="{3648D40B-7717-4449-9A44-11C3A05DBDEC}" type="pres">
      <dgm:prSet presAssocID="{F769A0A0-097F-4088-B889-212DA9D6659A}" presName="compositeShape" presStyleCnt="0">
        <dgm:presLayoutVars>
          <dgm:chMax val="7"/>
          <dgm:dir/>
          <dgm:resizeHandles val="exact"/>
        </dgm:presLayoutVars>
      </dgm:prSet>
      <dgm:spPr/>
    </dgm:pt>
    <dgm:pt modelId="{9AD0765C-D592-417C-9043-22F753B5C423}" type="pres">
      <dgm:prSet presAssocID="{EC517F78-1D89-4770-AE65-6E6FC258C621}" presName="circ1" presStyleLbl="vennNode1" presStyleIdx="0" presStyleCnt="6"/>
      <dgm:spPr/>
    </dgm:pt>
    <dgm:pt modelId="{2E4BA6F3-D1D8-443F-865A-A7BE1AF4B79C}" type="pres">
      <dgm:prSet presAssocID="{EC517F78-1D89-4770-AE65-6E6FC258C621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3E711D5-F20A-4E7B-85D7-2A94912F024F}" type="pres">
      <dgm:prSet presAssocID="{B5245B8D-143A-4F51-BE63-DB3C42BA7A25}" presName="circ2" presStyleLbl="vennNode1" presStyleIdx="1" presStyleCnt="6"/>
      <dgm:spPr/>
    </dgm:pt>
    <dgm:pt modelId="{EAF0BD92-001A-4E0E-AE9B-30E9721C1870}" type="pres">
      <dgm:prSet presAssocID="{B5245B8D-143A-4F51-BE63-DB3C42BA7A2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898358C-37FB-4071-AD74-34285C982370}" type="pres">
      <dgm:prSet presAssocID="{809AD214-1B32-4E38-BC08-0F023134C61B}" presName="circ3" presStyleLbl="vennNode1" presStyleIdx="2" presStyleCnt="6"/>
      <dgm:spPr/>
    </dgm:pt>
    <dgm:pt modelId="{440DCE95-DEB3-45E9-BABE-8C97592E9DAC}" type="pres">
      <dgm:prSet presAssocID="{809AD214-1B32-4E38-BC08-0F023134C61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177600A-42D2-467D-AD6B-136499EC9B88}" type="pres">
      <dgm:prSet presAssocID="{0602FD39-2388-490B-9FBE-9A5B4D47E95E}" presName="circ4" presStyleLbl="vennNode1" presStyleIdx="3" presStyleCnt="6"/>
      <dgm:spPr/>
    </dgm:pt>
    <dgm:pt modelId="{A7783D2E-1B2B-4C28-A081-17563EC60902}" type="pres">
      <dgm:prSet presAssocID="{0602FD39-2388-490B-9FBE-9A5B4D47E95E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DAD4379-CE7B-4930-AD07-3010168A2072}" type="pres">
      <dgm:prSet presAssocID="{9A70ACCE-1428-4F87-9AB1-98C6069A1D83}" presName="circ5" presStyleLbl="vennNode1" presStyleIdx="4" presStyleCnt="6"/>
      <dgm:spPr/>
    </dgm:pt>
    <dgm:pt modelId="{671A3D68-2C49-4CD9-AAED-3090E3945D24}" type="pres">
      <dgm:prSet presAssocID="{9A70ACCE-1428-4F87-9AB1-98C6069A1D83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7F471D6-65DB-4F09-82E3-EC0D040E1EA4}" type="pres">
      <dgm:prSet presAssocID="{CB0844B0-3713-430F-B9DF-059FD2AA4ECD}" presName="circ6" presStyleLbl="vennNode1" presStyleIdx="5" presStyleCnt="6"/>
      <dgm:spPr/>
    </dgm:pt>
    <dgm:pt modelId="{4C0BCE31-200B-474C-B251-E598F025DDDD}" type="pres">
      <dgm:prSet presAssocID="{CB0844B0-3713-430F-B9DF-059FD2AA4EC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1030A017-AB4F-4819-88DE-5D30705A0871}" srcId="{F769A0A0-097F-4088-B889-212DA9D6659A}" destId="{9A70ACCE-1428-4F87-9AB1-98C6069A1D83}" srcOrd="4" destOrd="0" parTransId="{7C716444-FA19-494A-8665-60DEA68C61A7}" sibTransId="{9C80D96A-3A31-4328-A0B8-1E72AE9787FB}"/>
    <dgm:cxn modelId="{C476DA23-3926-407A-A094-2C34E00D273E}" type="presOf" srcId="{809AD214-1B32-4E38-BC08-0F023134C61B}" destId="{440DCE95-DEB3-45E9-BABE-8C97592E9DAC}" srcOrd="0" destOrd="0" presId="urn:microsoft.com/office/officeart/2005/8/layout/venn1"/>
    <dgm:cxn modelId="{16183433-99DE-4E88-B20E-EAB57F941A79}" srcId="{F769A0A0-097F-4088-B889-212DA9D6659A}" destId="{B5245B8D-143A-4F51-BE63-DB3C42BA7A25}" srcOrd="1" destOrd="0" parTransId="{C325CDCA-9685-4902-8108-08F2DB2F777C}" sibTransId="{0DAFB32F-6AB9-4F22-9CD3-F06EE4AA8F59}"/>
    <dgm:cxn modelId="{B7DFB234-CC90-4757-B3FB-A3FB79EC2D13}" type="presOf" srcId="{CB0844B0-3713-430F-B9DF-059FD2AA4ECD}" destId="{4C0BCE31-200B-474C-B251-E598F025DDDD}" srcOrd="0" destOrd="0" presId="urn:microsoft.com/office/officeart/2005/8/layout/venn1"/>
    <dgm:cxn modelId="{9490E03F-CC4E-49A5-973D-DC0C83F0040C}" type="presOf" srcId="{F769A0A0-097F-4088-B889-212DA9D6659A}" destId="{3648D40B-7717-4449-9A44-11C3A05DBDEC}" srcOrd="0" destOrd="0" presId="urn:microsoft.com/office/officeart/2005/8/layout/venn1"/>
    <dgm:cxn modelId="{8FC23350-AD7F-4441-AA89-F218C70C36A5}" type="presOf" srcId="{B5245B8D-143A-4F51-BE63-DB3C42BA7A25}" destId="{EAF0BD92-001A-4E0E-AE9B-30E9721C1870}" srcOrd="0" destOrd="0" presId="urn:microsoft.com/office/officeart/2005/8/layout/venn1"/>
    <dgm:cxn modelId="{62C18A54-B09B-44E4-BEA9-2ADABD7095EA}" type="presOf" srcId="{EC517F78-1D89-4770-AE65-6E6FC258C621}" destId="{2E4BA6F3-D1D8-443F-865A-A7BE1AF4B79C}" srcOrd="0" destOrd="0" presId="urn:microsoft.com/office/officeart/2005/8/layout/venn1"/>
    <dgm:cxn modelId="{A5D9487D-CAF1-4DDB-A19D-B9AC8FC7288B}" srcId="{F769A0A0-097F-4088-B889-212DA9D6659A}" destId="{CB0844B0-3713-430F-B9DF-059FD2AA4ECD}" srcOrd="5" destOrd="0" parTransId="{44AE61ED-FA24-42B0-B6F4-707392B0F454}" sibTransId="{B4018F4E-7E3E-43BF-9152-AE5BA1904CDD}"/>
    <dgm:cxn modelId="{10F9A087-DF0B-496F-BC28-FAA8273F8ACE}" type="presOf" srcId="{0602FD39-2388-490B-9FBE-9A5B4D47E95E}" destId="{A7783D2E-1B2B-4C28-A081-17563EC60902}" srcOrd="0" destOrd="0" presId="urn:microsoft.com/office/officeart/2005/8/layout/venn1"/>
    <dgm:cxn modelId="{BB3FD8A8-4196-4FED-9748-83E0A6FAAF42}" type="presOf" srcId="{9A70ACCE-1428-4F87-9AB1-98C6069A1D83}" destId="{671A3D68-2C49-4CD9-AAED-3090E3945D24}" srcOrd="0" destOrd="0" presId="urn:microsoft.com/office/officeart/2005/8/layout/venn1"/>
    <dgm:cxn modelId="{B876BCC3-F154-46C9-B906-6500BF4ADA6D}" srcId="{F769A0A0-097F-4088-B889-212DA9D6659A}" destId="{0602FD39-2388-490B-9FBE-9A5B4D47E95E}" srcOrd="3" destOrd="0" parTransId="{D36003D8-72F1-49E3-8056-8D413152EB2E}" sibTransId="{FC69A512-666D-416B-A338-A262B5CBE321}"/>
    <dgm:cxn modelId="{D3B7DEDB-3A24-41A1-B2B5-C45ACFDEE87B}" srcId="{F769A0A0-097F-4088-B889-212DA9D6659A}" destId="{EC517F78-1D89-4770-AE65-6E6FC258C621}" srcOrd="0" destOrd="0" parTransId="{DB1AB140-2225-4E6E-9692-640FE15F93C9}" sibTransId="{E0367041-9823-4A20-8228-E0C54E2FEE26}"/>
    <dgm:cxn modelId="{4BE718DF-090D-41B2-B7BD-9CBAFEFD5C92}" srcId="{F769A0A0-097F-4088-B889-212DA9D6659A}" destId="{809AD214-1B32-4E38-BC08-0F023134C61B}" srcOrd="2" destOrd="0" parTransId="{13EC073B-50B1-4692-8295-79B2D8370825}" sibTransId="{1DB90F34-2333-462B-9C26-8934C34D4D05}"/>
    <dgm:cxn modelId="{2504D2F4-3A08-4FB2-8122-34F829A95C6B}" type="presParOf" srcId="{3648D40B-7717-4449-9A44-11C3A05DBDEC}" destId="{9AD0765C-D592-417C-9043-22F753B5C423}" srcOrd="0" destOrd="0" presId="urn:microsoft.com/office/officeart/2005/8/layout/venn1"/>
    <dgm:cxn modelId="{B45DB79A-3835-4ECF-A211-005A470CDE6B}" type="presParOf" srcId="{3648D40B-7717-4449-9A44-11C3A05DBDEC}" destId="{2E4BA6F3-D1D8-443F-865A-A7BE1AF4B79C}" srcOrd="1" destOrd="0" presId="urn:microsoft.com/office/officeart/2005/8/layout/venn1"/>
    <dgm:cxn modelId="{DD232949-D410-4371-8EBE-4A45DA435475}" type="presParOf" srcId="{3648D40B-7717-4449-9A44-11C3A05DBDEC}" destId="{B3E711D5-F20A-4E7B-85D7-2A94912F024F}" srcOrd="2" destOrd="0" presId="urn:microsoft.com/office/officeart/2005/8/layout/venn1"/>
    <dgm:cxn modelId="{4AB185B2-899F-41CE-890B-1BFF4BBDACDB}" type="presParOf" srcId="{3648D40B-7717-4449-9A44-11C3A05DBDEC}" destId="{EAF0BD92-001A-4E0E-AE9B-30E9721C1870}" srcOrd="3" destOrd="0" presId="urn:microsoft.com/office/officeart/2005/8/layout/venn1"/>
    <dgm:cxn modelId="{115E7CDB-F08B-40AD-894D-C035B6355E9A}" type="presParOf" srcId="{3648D40B-7717-4449-9A44-11C3A05DBDEC}" destId="{4898358C-37FB-4071-AD74-34285C982370}" srcOrd="4" destOrd="0" presId="urn:microsoft.com/office/officeart/2005/8/layout/venn1"/>
    <dgm:cxn modelId="{F08A1E72-145C-4508-9F0D-29A4BDA24C5F}" type="presParOf" srcId="{3648D40B-7717-4449-9A44-11C3A05DBDEC}" destId="{440DCE95-DEB3-45E9-BABE-8C97592E9DAC}" srcOrd="5" destOrd="0" presId="urn:microsoft.com/office/officeart/2005/8/layout/venn1"/>
    <dgm:cxn modelId="{FCA2F0BA-F211-4F27-822F-B6FA8173691C}" type="presParOf" srcId="{3648D40B-7717-4449-9A44-11C3A05DBDEC}" destId="{5177600A-42D2-467D-AD6B-136499EC9B88}" srcOrd="6" destOrd="0" presId="urn:microsoft.com/office/officeart/2005/8/layout/venn1"/>
    <dgm:cxn modelId="{8EBA56F5-48FD-41BE-851D-D192F6CCF9A3}" type="presParOf" srcId="{3648D40B-7717-4449-9A44-11C3A05DBDEC}" destId="{A7783D2E-1B2B-4C28-A081-17563EC60902}" srcOrd="7" destOrd="0" presId="urn:microsoft.com/office/officeart/2005/8/layout/venn1"/>
    <dgm:cxn modelId="{2C14C96B-981D-4869-B800-AAB081BABA41}" type="presParOf" srcId="{3648D40B-7717-4449-9A44-11C3A05DBDEC}" destId="{EDAD4379-CE7B-4930-AD07-3010168A2072}" srcOrd="8" destOrd="0" presId="urn:microsoft.com/office/officeart/2005/8/layout/venn1"/>
    <dgm:cxn modelId="{3F28AB89-F674-4833-9E77-3B0E0D5D48E7}" type="presParOf" srcId="{3648D40B-7717-4449-9A44-11C3A05DBDEC}" destId="{671A3D68-2C49-4CD9-AAED-3090E3945D24}" srcOrd="9" destOrd="0" presId="urn:microsoft.com/office/officeart/2005/8/layout/venn1"/>
    <dgm:cxn modelId="{91314549-4127-48E3-8987-FE2DAE72274D}" type="presParOf" srcId="{3648D40B-7717-4449-9A44-11C3A05DBDEC}" destId="{E7F471D6-65DB-4F09-82E3-EC0D040E1EA4}" srcOrd="10" destOrd="0" presId="urn:microsoft.com/office/officeart/2005/8/layout/venn1"/>
    <dgm:cxn modelId="{41B7455D-E28B-43FC-BDBC-42C16C9A6DEC}" type="presParOf" srcId="{3648D40B-7717-4449-9A44-11C3A05DBDEC}" destId="{4C0BCE31-200B-474C-B251-E598F025DDDD}" srcOrd="11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B4750B-240A-4FA2-B7BA-322497A012D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1C6FAD7-6D72-49E5-975F-915CA40DA0E2}">
      <dgm:prSet/>
      <dgm:spPr/>
      <dgm:t>
        <a:bodyPr/>
        <a:lstStyle/>
        <a:p>
          <a:r>
            <a:rPr lang="en-US"/>
            <a:t>EDA was performed using Python libraries: </a:t>
          </a:r>
          <a:endParaRPr lang="en-IN"/>
        </a:p>
      </dgm:t>
    </dgm:pt>
    <dgm:pt modelId="{4A7095BB-A850-408C-B331-C1BDEE4929F7}" type="parTrans" cxnId="{39F8770D-88DC-4A92-885F-71672CEB754A}">
      <dgm:prSet/>
      <dgm:spPr/>
      <dgm:t>
        <a:bodyPr/>
        <a:lstStyle/>
        <a:p>
          <a:endParaRPr lang="en-IN"/>
        </a:p>
      </dgm:t>
    </dgm:pt>
    <dgm:pt modelId="{07896321-28A8-431F-A534-D23B41607367}" type="sibTrans" cxnId="{39F8770D-88DC-4A92-885F-71672CEB754A}">
      <dgm:prSet/>
      <dgm:spPr/>
      <dgm:t>
        <a:bodyPr/>
        <a:lstStyle/>
        <a:p>
          <a:endParaRPr lang="en-IN"/>
        </a:p>
      </dgm:t>
    </dgm:pt>
    <dgm:pt modelId="{AB744D1F-526B-4CF6-A151-EB33670BA099}">
      <dgm:prSet/>
      <dgm:spPr/>
      <dgm:t>
        <a:bodyPr/>
        <a:lstStyle/>
        <a:p>
          <a:r>
            <a:rPr lang="en-US"/>
            <a:t>Analyzed distributions of sales, profit, and discount </a:t>
          </a:r>
          <a:endParaRPr lang="en-IN"/>
        </a:p>
      </dgm:t>
    </dgm:pt>
    <dgm:pt modelId="{18443A93-EC4A-44F4-958C-1F365D954F49}" type="parTrans" cxnId="{7589493E-ABE1-4F13-AE6F-1CCE10607449}">
      <dgm:prSet/>
      <dgm:spPr/>
      <dgm:t>
        <a:bodyPr/>
        <a:lstStyle/>
        <a:p>
          <a:endParaRPr lang="en-IN"/>
        </a:p>
      </dgm:t>
    </dgm:pt>
    <dgm:pt modelId="{83F9699F-5988-444D-AD92-7E050AAC7876}" type="sibTrans" cxnId="{7589493E-ABE1-4F13-AE6F-1CCE10607449}">
      <dgm:prSet/>
      <dgm:spPr/>
      <dgm:t>
        <a:bodyPr/>
        <a:lstStyle/>
        <a:p>
          <a:endParaRPr lang="en-IN"/>
        </a:p>
      </dgm:t>
    </dgm:pt>
    <dgm:pt modelId="{8626653D-20EB-4583-A718-38084B6C8D22}">
      <dgm:prSet/>
      <dgm:spPr/>
      <dgm:t>
        <a:bodyPr/>
        <a:lstStyle/>
        <a:p>
          <a:r>
            <a:rPr lang="en-IN"/>
            <a:t>Studied relationships such as: </a:t>
          </a:r>
        </a:p>
      </dgm:t>
    </dgm:pt>
    <dgm:pt modelId="{543F8809-E093-4E73-8A61-45ABD6DED200}" type="parTrans" cxnId="{B78B0DA3-4E8B-4A6F-B26F-7011AC0AF647}">
      <dgm:prSet/>
      <dgm:spPr/>
      <dgm:t>
        <a:bodyPr/>
        <a:lstStyle/>
        <a:p>
          <a:endParaRPr lang="en-IN"/>
        </a:p>
      </dgm:t>
    </dgm:pt>
    <dgm:pt modelId="{9D778D94-B62D-4FE3-AB89-14089338D001}" type="sibTrans" cxnId="{B78B0DA3-4E8B-4A6F-B26F-7011AC0AF647}">
      <dgm:prSet/>
      <dgm:spPr/>
      <dgm:t>
        <a:bodyPr/>
        <a:lstStyle/>
        <a:p>
          <a:endParaRPr lang="en-IN"/>
        </a:p>
      </dgm:t>
    </dgm:pt>
    <dgm:pt modelId="{D91AC884-EA52-4F30-9B3A-5CA4529FBC8B}">
      <dgm:prSet/>
      <dgm:spPr/>
      <dgm:t>
        <a:bodyPr/>
        <a:lstStyle/>
        <a:p>
          <a:r>
            <a:rPr lang="en-IN"/>
            <a:t>Discount vs Profit </a:t>
          </a:r>
        </a:p>
      </dgm:t>
    </dgm:pt>
    <dgm:pt modelId="{46251BB1-13F0-4AC3-B2D6-44B30A4E4C2A}" type="parTrans" cxnId="{3C5A5B5E-8330-404A-95AB-C6284E52BBD2}">
      <dgm:prSet/>
      <dgm:spPr/>
      <dgm:t>
        <a:bodyPr/>
        <a:lstStyle/>
        <a:p>
          <a:endParaRPr lang="en-IN"/>
        </a:p>
      </dgm:t>
    </dgm:pt>
    <dgm:pt modelId="{0FF8AE8C-DD89-488D-B16C-D4FDC790FA4C}" type="sibTrans" cxnId="{3C5A5B5E-8330-404A-95AB-C6284E52BBD2}">
      <dgm:prSet/>
      <dgm:spPr/>
      <dgm:t>
        <a:bodyPr/>
        <a:lstStyle/>
        <a:p>
          <a:endParaRPr lang="en-IN"/>
        </a:p>
      </dgm:t>
    </dgm:pt>
    <dgm:pt modelId="{0928A0FE-ACD5-46A8-A105-DC36899EA085}">
      <dgm:prSet/>
      <dgm:spPr/>
      <dgm:t>
        <a:bodyPr/>
        <a:lstStyle/>
        <a:p>
          <a:r>
            <a:rPr lang="en-IN"/>
            <a:t>Category vs Profit </a:t>
          </a:r>
        </a:p>
      </dgm:t>
    </dgm:pt>
    <dgm:pt modelId="{EF7F9872-6E76-46FB-ACD2-AC53C3F6B770}" type="parTrans" cxnId="{83272035-2EE0-4524-AD06-4C852F1AB6CD}">
      <dgm:prSet/>
      <dgm:spPr/>
      <dgm:t>
        <a:bodyPr/>
        <a:lstStyle/>
        <a:p>
          <a:endParaRPr lang="en-IN"/>
        </a:p>
      </dgm:t>
    </dgm:pt>
    <dgm:pt modelId="{9D72F6EE-61E3-4061-BF0D-C5AB1637C5D9}" type="sibTrans" cxnId="{83272035-2EE0-4524-AD06-4C852F1AB6CD}">
      <dgm:prSet/>
      <dgm:spPr/>
      <dgm:t>
        <a:bodyPr/>
        <a:lstStyle/>
        <a:p>
          <a:endParaRPr lang="en-IN"/>
        </a:p>
      </dgm:t>
    </dgm:pt>
    <dgm:pt modelId="{0369E40C-AF17-42D7-8E1A-09802DB0E01F}">
      <dgm:prSet/>
      <dgm:spPr/>
      <dgm:t>
        <a:bodyPr/>
        <a:lstStyle/>
        <a:p>
          <a:r>
            <a:rPr lang="en-US"/>
            <a:t>Identified seasonal patterns using year and month </a:t>
          </a:r>
          <a:endParaRPr lang="en-IN"/>
        </a:p>
      </dgm:t>
    </dgm:pt>
    <dgm:pt modelId="{E447B759-35F3-44D4-9FFC-23B8EF0C20D4}" type="parTrans" cxnId="{EAA2EB3F-804E-4326-AC11-AA54422148AE}">
      <dgm:prSet/>
      <dgm:spPr/>
      <dgm:t>
        <a:bodyPr/>
        <a:lstStyle/>
        <a:p>
          <a:endParaRPr lang="en-IN"/>
        </a:p>
      </dgm:t>
    </dgm:pt>
    <dgm:pt modelId="{84FE02B9-8D21-4F98-A0B6-4EF134CAA434}" type="sibTrans" cxnId="{EAA2EB3F-804E-4326-AC11-AA54422148AE}">
      <dgm:prSet/>
      <dgm:spPr/>
      <dgm:t>
        <a:bodyPr/>
        <a:lstStyle/>
        <a:p>
          <a:endParaRPr lang="en-IN"/>
        </a:p>
      </dgm:t>
    </dgm:pt>
    <dgm:pt modelId="{C6FF96B6-EECB-4AA8-9C2E-40644A5428CA}">
      <dgm:prSet/>
      <dgm:spPr/>
      <dgm:t>
        <a:bodyPr/>
        <a:lstStyle/>
        <a:p>
          <a:r>
            <a:rPr lang="en-US"/>
            <a:t>This step confirmed many insights initially observed in Excel and SQL. </a:t>
          </a:r>
          <a:endParaRPr lang="en-IN"/>
        </a:p>
      </dgm:t>
    </dgm:pt>
    <dgm:pt modelId="{E591EB43-109B-4F13-B147-90C4484D9872}" type="parTrans" cxnId="{A58B81F2-308E-4B61-96EF-552D603D7F13}">
      <dgm:prSet/>
      <dgm:spPr/>
      <dgm:t>
        <a:bodyPr/>
        <a:lstStyle/>
        <a:p>
          <a:endParaRPr lang="en-IN"/>
        </a:p>
      </dgm:t>
    </dgm:pt>
    <dgm:pt modelId="{E42C517A-0F0C-41A8-B8E4-1E0C02BCDF4F}" type="sibTrans" cxnId="{A58B81F2-308E-4B61-96EF-552D603D7F13}">
      <dgm:prSet/>
      <dgm:spPr/>
      <dgm:t>
        <a:bodyPr/>
        <a:lstStyle/>
        <a:p>
          <a:endParaRPr lang="en-IN"/>
        </a:p>
      </dgm:t>
    </dgm:pt>
    <dgm:pt modelId="{A2312488-290E-402C-9F40-92248CF8B163}" type="pres">
      <dgm:prSet presAssocID="{60B4750B-240A-4FA2-B7BA-322497A012D2}" presName="linear" presStyleCnt="0">
        <dgm:presLayoutVars>
          <dgm:animLvl val="lvl"/>
          <dgm:resizeHandles val="exact"/>
        </dgm:presLayoutVars>
      </dgm:prSet>
      <dgm:spPr/>
    </dgm:pt>
    <dgm:pt modelId="{6767DA09-9761-41CB-A6C9-C2AB9C158C75}" type="pres">
      <dgm:prSet presAssocID="{C1C6FAD7-6D72-49E5-975F-915CA40DA0E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EFA46654-5969-4EEF-8191-7B7FE1A3F9C6}" type="pres">
      <dgm:prSet presAssocID="{07896321-28A8-431F-A534-D23B41607367}" presName="spacer" presStyleCnt="0"/>
      <dgm:spPr/>
    </dgm:pt>
    <dgm:pt modelId="{7F98E075-66A2-4A00-9463-ABF59F38A252}" type="pres">
      <dgm:prSet presAssocID="{AB744D1F-526B-4CF6-A151-EB33670BA09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50CAB22-E38D-4D37-A668-6EC7547BC31F}" type="pres">
      <dgm:prSet presAssocID="{83F9699F-5988-444D-AD92-7E050AAC7876}" presName="spacer" presStyleCnt="0"/>
      <dgm:spPr/>
    </dgm:pt>
    <dgm:pt modelId="{80CA3145-E525-46C2-847F-E2D1D60A079F}" type="pres">
      <dgm:prSet presAssocID="{8626653D-20EB-4583-A718-38084B6C8D22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9A5BE10-6E12-4644-9B37-24F480ADD65C}" type="pres">
      <dgm:prSet presAssocID="{9D778D94-B62D-4FE3-AB89-14089338D001}" presName="spacer" presStyleCnt="0"/>
      <dgm:spPr/>
    </dgm:pt>
    <dgm:pt modelId="{1C23BBAA-6B00-4947-A391-0BEB217855BC}" type="pres">
      <dgm:prSet presAssocID="{D91AC884-EA52-4F30-9B3A-5CA4529FBC8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0261EF75-EDE4-4766-9B23-7C551A3C1DF4}" type="pres">
      <dgm:prSet presAssocID="{0FF8AE8C-DD89-488D-B16C-D4FDC790FA4C}" presName="spacer" presStyleCnt="0"/>
      <dgm:spPr/>
    </dgm:pt>
    <dgm:pt modelId="{5ACE1747-A66D-48B6-8842-AE947C680DA4}" type="pres">
      <dgm:prSet presAssocID="{0928A0FE-ACD5-46A8-A105-DC36899EA085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CC7C0AA-C63E-4FE4-9345-EA89CDAD4294}" type="pres">
      <dgm:prSet presAssocID="{9D72F6EE-61E3-4061-BF0D-C5AB1637C5D9}" presName="spacer" presStyleCnt="0"/>
      <dgm:spPr/>
    </dgm:pt>
    <dgm:pt modelId="{9F1FB359-1AE0-47BE-ACCC-FB8710228573}" type="pres">
      <dgm:prSet presAssocID="{0369E40C-AF17-42D7-8E1A-09802DB0E01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6C178FB-C014-4403-95C9-E89343AA581E}" type="pres">
      <dgm:prSet presAssocID="{84FE02B9-8D21-4F98-A0B6-4EF134CAA434}" presName="spacer" presStyleCnt="0"/>
      <dgm:spPr/>
    </dgm:pt>
    <dgm:pt modelId="{53A14BDF-A824-4EEF-AFB9-04816129E55E}" type="pres">
      <dgm:prSet presAssocID="{C6FF96B6-EECB-4AA8-9C2E-40644A5428CA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9F8770D-88DC-4A92-885F-71672CEB754A}" srcId="{60B4750B-240A-4FA2-B7BA-322497A012D2}" destId="{C1C6FAD7-6D72-49E5-975F-915CA40DA0E2}" srcOrd="0" destOrd="0" parTransId="{4A7095BB-A850-408C-B331-C1BDEE4929F7}" sibTransId="{07896321-28A8-431F-A534-D23B41607367}"/>
    <dgm:cxn modelId="{A5EDD122-D207-4F8A-B2D1-D4087B93795F}" type="presOf" srcId="{D91AC884-EA52-4F30-9B3A-5CA4529FBC8B}" destId="{1C23BBAA-6B00-4947-A391-0BEB217855BC}" srcOrd="0" destOrd="0" presId="urn:microsoft.com/office/officeart/2005/8/layout/vList2"/>
    <dgm:cxn modelId="{4C5E3529-3D2A-4756-9084-CE7E24C42982}" type="presOf" srcId="{60B4750B-240A-4FA2-B7BA-322497A012D2}" destId="{A2312488-290E-402C-9F40-92248CF8B163}" srcOrd="0" destOrd="0" presId="urn:microsoft.com/office/officeart/2005/8/layout/vList2"/>
    <dgm:cxn modelId="{83272035-2EE0-4524-AD06-4C852F1AB6CD}" srcId="{60B4750B-240A-4FA2-B7BA-322497A012D2}" destId="{0928A0FE-ACD5-46A8-A105-DC36899EA085}" srcOrd="4" destOrd="0" parTransId="{EF7F9872-6E76-46FB-ACD2-AC53C3F6B770}" sibTransId="{9D72F6EE-61E3-4061-BF0D-C5AB1637C5D9}"/>
    <dgm:cxn modelId="{7589493E-ABE1-4F13-AE6F-1CCE10607449}" srcId="{60B4750B-240A-4FA2-B7BA-322497A012D2}" destId="{AB744D1F-526B-4CF6-A151-EB33670BA099}" srcOrd="1" destOrd="0" parTransId="{18443A93-EC4A-44F4-958C-1F365D954F49}" sibTransId="{83F9699F-5988-444D-AD92-7E050AAC7876}"/>
    <dgm:cxn modelId="{EAA2EB3F-804E-4326-AC11-AA54422148AE}" srcId="{60B4750B-240A-4FA2-B7BA-322497A012D2}" destId="{0369E40C-AF17-42D7-8E1A-09802DB0E01F}" srcOrd="5" destOrd="0" parTransId="{E447B759-35F3-44D4-9FFC-23B8EF0C20D4}" sibTransId="{84FE02B9-8D21-4F98-A0B6-4EF134CAA434}"/>
    <dgm:cxn modelId="{3C5A5B5E-8330-404A-95AB-C6284E52BBD2}" srcId="{60B4750B-240A-4FA2-B7BA-322497A012D2}" destId="{D91AC884-EA52-4F30-9B3A-5CA4529FBC8B}" srcOrd="3" destOrd="0" parTransId="{46251BB1-13F0-4AC3-B2D6-44B30A4E4C2A}" sibTransId="{0FF8AE8C-DD89-488D-B16C-D4FDC790FA4C}"/>
    <dgm:cxn modelId="{A6DBCC4B-052F-450B-A7C6-6219526E15A5}" type="presOf" srcId="{C1C6FAD7-6D72-49E5-975F-915CA40DA0E2}" destId="{6767DA09-9761-41CB-A6C9-C2AB9C158C75}" srcOrd="0" destOrd="0" presId="urn:microsoft.com/office/officeart/2005/8/layout/vList2"/>
    <dgm:cxn modelId="{B4386785-6F9E-4F24-A03E-D1F976CFC3A5}" type="presOf" srcId="{0928A0FE-ACD5-46A8-A105-DC36899EA085}" destId="{5ACE1747-A66D-48B6-8842-AE947C680DA4}" srcOrd="0" destOrd="0" presId="urn:microsoft.com/office/officeart/2005/8/layout/vList2"/>
    <dgm:cxn modelId="{B78B0DA3-4E8B-4A6F-B26F-7011AC0AF647}" srcId="{60B4750B-240A-4FA2-B7BA-322497A012D2}" destId="{8626653D-20EB-4583-A718-38084B6C8D22}" srcOrd="2" destOrd="0" parTransId="{543F8809-E093-4E73-8A61-45ABD6DED200}" sibTransId="{9D778D94-B62D-4FE3-AB89-14089338D001}"/>
    <dgm:cxn modelId="{3686DEBA-51B8-4F7E-97B4-FF6C3B62EAF0}" type="presOf" srcId="{AB744D1F-526B-4CF6-A151-EB33670BA099}" destId="{7F98E075-66A2-4A00-9463-ABF59F38A252}" srcOrd="0" destOrd="0" presId="urn:microsoft.com/office/officeart/2005/8/layout/vList2"/>
    <dgm:cxn modelId="{4A62A3BC-525F-42D6-A5F1-811B0E1F42E6}" type="presOf" srcId="{0369E40C-AF17-42D7-8E1A-09802DB0E01F}" destId="{9F1FB359-1AE0-47BE-ACCC-FB8710228573}" srcOrd="0" destOrd="0" presId="urn:microsoft.com/office/officeart/2005/8/layout/vList2"/>
    <dgm:cxn modelId="{483D9EDA-9FFA-41D9-BE45-BC74558923D0}" type="presOf" srcId="{C6FF96B6-EECB-4AA8-9C2E-40644A5428CA}" destId="{53A14BDF-A824-4EEF-AFB9-04816129E55E}" srcOrd="0" destOrd="0" presId="urn:microsoft.com/office/officeart/2005/8/layout/vList2"/>
    <dgm:cxn modelId="{92CF32DE-14B9-4A90-8A0D-F641328F61A7}" type="presOf" srcId="{8626653D-20EB-4583-A718-38084B6C8D22}" destId="{80CA3145-E525-46C2-847F-E2D1D60A079F}" srcOrd="0" destOrd="0" presId="urn:microsoft.com/office/officeart/2005/8/layout/vList2"/>
    <dgm:cxn modelId="{A58B81F2-308E-4B61-96EF-552D603D7F13}" srcId="{60B4750B-240A-4FA2-B7BA-322497A012D2}" destId="{C6FF96B6-EECB-4AA8-9C2E-40644A5428CA}" srcOrd="6" destOrd="0" parTransId="{E591EB43-109B-4F13-B147-90C4484D9872}" sibTransId="{E42C517A-0F0C-41A8-B8E4-1E0C02BCDF4F}"/>
    <dgm:cxn modelId="{3DBA4CA5-46B7-41C4-A970-79153901E33C}" type="presParOf" srcId="{A2312488-290E-402C-9F40-92248CF8B163}" destId="{6767DA09-9761-41CB-A6C9-C2AB9C158C75}" srcOrd="0" destOrd="0" presId="urn:microsoft.com/office/officeart/2005/8/layout/vList2"/>
    <dgm:cxn modelId="{D6137E14-45B7-4295-A75F-0A7A02BCF5BD}" type="presParOf" srcId="{A2312488-290E-402C-9F40-92248CF8B163}" destId="{EFA46654-5969-4EEF-8191-7B7FE1A3F9C6}" srcOrd="1" destOrd="0" presId="urn:microsoft.com/office/officeart/2005/8/layout/vList2"/>
    <dgm:cxn modelId="{929702F9-63C1-47DD-A229-0901710524F5}" type="presParOf" srcId="{A2312488-290E-402C-9F40-92248CF8B163}" destId="{7F98E075-66A2-4A00-9463-ABF59F38A252}" srcOrd="2" destOrd="0" presId="urn:microsoft.com/office/officeart/2005/8/layout/vList2"/>
    <dgm:cxn modelId="{24912679-8094-4D73-BDDA-1E518CFB02C0}" type="presParOf" srcId="{A2312488-290E-402C-9F40-92248CF8B163}" destId="{650CAB22-E38D-4D37-A668-6EC7547BC31F}" srcOrd="3" destOrd="0" presId="urn:microsoft.com/office/officeart/2005/8/layout/vList2"/>
    <dgm:cxn modelId="{03A587D0-B28A-4A89-9C1E-AC7132FA9F38}" type="presParOf" srcId="{A2312488-290E-402C-9F40-92248CF8B163}" destId="{80CA3145-E525-46C2-847F-E2D1D60A079F}" srcOrd="4" destOrd="0" presId="urn:microsoft.com/office/officeart/2005/8/layout/vList2"/>
    <dgm:cxn modelId="{C11B0573-CB06-4C0A-8246-B746C1EECCED}" type="presParOf" srcId="{A2312488-290E-402C-9F40-92248CF8B163}" destId="{C9A5BE10-6E12-4644-9B37-24F480ADD65C}" srcOrd="5" destOrd="0" presId="urn:microsoft.com/office/officeart/2005/8/layout/vList2"/>
    <dgm:cxn modelId="{D367DDAA-573B-4BC9-960F-86DB8887C3B1}" type="presParOf" srcId="{A2312488-290E-402C-9F40-92248CF8B163}" destId="{1C23BBAA-6B00-4947-A391-0BEB217855BC}" srcOrd="6" destOrd="0" presId="urn:microsoft.com/office/officeart/2005/8/layout/vList2"/>
    <dgm:cxn modelId="{B1A238A5-D292-4324-A256-968F415B0332}" type="presParOf" srcId="{A2312488-290E-402C-9F40-92248CF8B163}" destId="{0261EF75-EDE4-4766-9B23-7C551A3C1DF4}" srcOrd="7" destOrd="0" presId="urn:microsoft.com/office/officeart/2005/8/layout/vList2"/>
    <dgm:cxn modelId="{E4BB7167-4BFC-41E7-B345-7CFEFF9CB993}" type="presParOf" srcId="{A2312488-290E-402C-9F40-92248CF8B163}" destId="{5ACE1747-A66D-48B6-8842-AE947C680DA4}" srcOrd="8" destOrd="0" presId="urn:microsoft.com/office/officeart/2005/8/layout/vList2"/>
    <dgm:cxn modelId="{32D08011-58A8-4C15-8E17-3A349F557474}" type="presParOf" srcId="{A2312488-290E-402C-9F40-92248CF8B163}" destId="{DCC7C0AA-C63E-4FE4-9345-EA89CDAD4294}" srcOrd="9" destOrd="0" presId="urn:microsoft.com/office/officeart/2005/8/layout/vList2"/>
    <dgm:cxn modelId="{36DFD920-EF8B-4485-A482-A83651CFC119}" type="presParOf" srcId="{A2312488-290E-402C-9F40-92248CF8B163}" destId="{9F1FB359-1AE0-47BE-ACCC-FB8710228573}" srcOrd="10" destOrd="0" presId="urn:microsoft.com/office/officeart/2005/8/layout/vList2"/>
    <dgm:cxn modelId="{4F58C453-498F-4B80-B0F7-9E4E92C9C656}" type="presParOf" srcId="{A2312488-290E-402C-9F40-92248CF8B163}" destId="{26C178FB-C014-4403-95C9-E89343AA581E}" srcOrd="11" destOrd="0" presId="urn:microsoft.com/office/officeart/2005/8/layout/vList2"/>
    <dgm:cxn modelId="{F2A76328-54C4-4779-BE92-31B6B17982F4}" type="presParOf" srcId="{A2312488-290E-402C-9F40-92248CF8B163}" destId="{53A14BDF-A824-4EEF-AFB9-04816129E55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429079D-9F21-4C1C-9F66-A9E901DB11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832D50D-9155-4E59-957F-6E4114B4655F}">
      <dgm:prSet/>
      <dgm:spPr/>
      <dgm:t>
        <a:bodyPr/>
        <a:lstStyle/>
        <a:p>
          <a:r>
            <a:rPr lang="en-US"/>
            <a:t>Additional features were created to enhance model learning: </a:t>
          </a:r>
          <a:endParaRPr lang="en-IN"/>
        </a:p>
      </dgm:t>
    </dgm:pt>
    <dgm:pt modelId="{115765FA-1315-47EC-ABE7-4A6CCD2FE5D1}" type="parTrans" cxnId="{A6900E2D-E320-4656-8BD0-8ADD77EB2E6D}">
      <dgm:prSet/>
      <dgm:spPr/>
      <dgm:t>
        <a:bodyPr/>
        <a:lstStyle/>
        <a:p>
          <a:endParaRPr lang="en-IN"/>
        </a:p>
      </dgm:t>
    </dgm:pt>
    <dgm:pt modelId="{9FB422AE-E8E3-4F4C-92FF-080E0026C77E}" type="sibTrans" cxnId="{A6900E2D-E320-4656-8BD0-8ADD77EB2E6D}">
      <dgm:prSet/>
      <dgm:spPr/>
      <dgm:t>
        <a:bodyPr/>
        <a:lstStyle/>
        <a:p>
          <a:endParaRPr lang="en-IN"/>
        </a:p>
      </dgm:t>
    </dgm:pt>
    <dgm:pt modelId="{117525C0-AD2D-4A89-9FDE-0709EC75608B}">
      <dgm:prSet/>
      <dgm:spPr/>
      <dgm:t>
        <a:bodyPr/>
        <a:lstStyle/>
        <a:p>
          <a:r>
            <a:rPr lang="en-IN"/>
            <a:t>Year, Month, Quarter </a:t>
          </a:r>
        </a:p>
      </dgm:t>
    </dgm:pt>
    <dgm:pt modelId="{6C6BA3E4-1406-4E1B-8162-252501F78D33}" type="parTrans" cxnId="{EF966E1F-F719-4274-91A6-5F7AF3C1EFC1}">
      <dgm:prSet/>
      <dgm:spPr/>
      <dgm:t>
        <a:bodyPr/>
        <a:lstStyle/>
        <a:p>
          <a:endParaRPr lang="en-IN"/>
        </a:p>
      </dgm:t>
    </dgm:pt>
    <dgm:pt modelId="{E749F579-5FE4-40F2-B665-30F911826314}" type="sibTrans" cxnId="{EF966E1F-F719-4274-91A6-5F7AF3C1EFC1}">
      <dgm:prSet/>
      <dgm:spPr/>
      <dgm:t>
        <a:bodyPr/>
        <a:lstStyle/>
        <a:p>
          <a:endParaRPr lang="en-IN"/>
        </a:p>
      </dgm:t>
    </dgm:pt>
    <dgm:pt modelId="{37075DE1-B91F-409E-B9B3-2205CAAB485E}">
      <dgm:prSet/>
      <dgm:spPr/>
      <dgm:t>
        <a:bodyPr/>
        <a:lstStyle/>
        <a:p>
          <a:r>
            <a:rPr lang="en-IN"/>
            <a:t>Weekend indicator </a:t>
          </a:r>
        </a:p>
      </dgm:t>
    </dgm:pt>
    <dgm:pt modelId="{1FD913E8-3638-4ABE-AA47-67118B47F974}" type="parTrans" cxnId="{BCFB9054-9F85-4E69-8FAC-8404EAB0DE6A}">
      <dgm:prSet/>
      <dgm:spPr/>
      <dgm:t>
        <a:bodyPr/>
        <a:lstStyle/>
        <a:p>
          <a:endParaRPr lang="en-IN"/>
        </a:p>
      </dgm:t>
    </dgm:pt>
    <dgm:pt modelId="{6946B770-DDD1-45EE-A8F5-D75CABBCD2CF}" type="sibTrans" cxnId="{BCFB9054-9F85-4E69-8FAC-8404EAB0DE6A}">
      <dgm:prSet/>
      <dgm:spPr/>
      <dgm:t>
        <a:bodyPr/>
        <a:lstStyle/>
        <a:p>
          <a:endParaRPr lang="en-IN"/>
        </a:p>
      </dgm:t>
    </dgm:pt>
    <dgm:pt modelId="{E15DD600-5F76-42C4-8009-1D7785774BB8}">
      <dgm:prSet/>
      <dgm:spPr/>
      <dgm:t>
        <a:bodyPr/>
        <a:lstStyle/>
        <a:p>
          <a:r>
            <a:rPr lang="en-US"/>
            <a:t>One-hot encoding for categorical variables </a:t>
          </a:r>
          <a:endParaRPr lang="en-IN"/>
        </a:p>
      </dgm:t>
    </dgm:pt>
    <dgm:pt modelId="{98E2FFB0-A2D4-49E8-893F-DA299A5F103E}" type="parTrans" cxnId="{5CECC48A-15CC-454D-960E-BD2107F3702E}">
      <dgm:prSet/>
      <dgm:spPr/>
      <dgm:t>
        <a:bodyPr/>
        <a:lstStyle/>
        <a:p>
          <a:endParaRPr lang="en-IN"/>
        </a:p>
      </dgm:t>
    </dgm:pt>
    <dgm:pt modelId="{7F50D883-5132-40A3-8441-BA1DA4BD7177}" type="sibTrans" cxnId="{5CECC48A-15CC-454D-960E-BD2107F3702E}">
      <dgm:prSet/>
      <dgm:spPr/>
      <dgm:t>
        <a:bodyPr/>
        <a:lstStyle/>
        <a:p>
          <a:endParaRPr lang="en-IN"/>
        </a:p>
      </dgm:t>
    </dgm:pt>
    <dgm:pt modelId="{97728BC5-BAA1-4DD9-B6EA-02B940AA8BF2}">
      <dgm:prSet/>
      <dgm:spPr/>
      <dgm:t>
        <a:bodyPr/>
        <a:lstStyle/>
        <a:p>
          <a:r>
            <a:rPr lang="en-US"/>
            <a:t>Numeric-only feature selection for ML compatibility </a:t>
          </a:r>
          <a:endParaRPr lang="en-IN"/>
        </a:p>
      </dgm:t>
    </dgm:pt>
    <dgm:pt modelId="{B8C41B16-70B8-4CD6-89D3-3A79FCDF1428}" type="parTrans" cxnId="{64BD0835-554E-4E27-AEFE-3E6168F43ED3}">
      <dgm:prSet/>
      <dgm:spPr/>
      <dgm:t>
        <a:bodyPr/>
        <a:lstStyle/>
        <a:p>
          <a:endParaRPr lang="en-IN"/>
        </a:p>
      </dgm:t>
    </dgm:pt>
    <dgm:pt modelId="{C52CDD2B-CB9C-434E-A291-5411580A8BA2}" type="sibTrans" cxnId="{64BD0835-554E-4E27-AEFE-3E6168F43ED3}">
      <dgm:prSet/>
      <dgm:spPr/>
      <dgm:t>
        <a:bodyPr/>
        <a:lstStyle/>
        <a:p>
          <a:endParaRPr lang="en-IN"/>
        </a:p>
      </dgm:t>
    </dgm:pt>
    <dgm:pt modelId="{4EAA264F-E655-4520-94DB-D780FE49EA23}" type="pres">
      <dgm:prSet presAssocID="{C429079D-9F21-4C1C-9F66-A9E901DB111C}" presName="linear" presStyleCnt="0">
        <dgm:presLayoutVars>
          <dgm:animLvl val="lvl"/>
          <dgm:resizeHandles val="exact"/>
        </dgm:presLayoutVars>
      </dgm:prSet>
      <dgm:spPr/>
    </dgm:pt>
    <dgm:pt modelId="{02E0530E-130D-4FB8-8201-A286F7B949CD}" type="pres">
      <dgm:prSet presAssocID="{F832D50D-9155-4E59-957F-6E4114B4655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7B7B578-448F-48DF-BB5E-F52EF3DD29DC}" type="pres">
      <dgm:prSet presAssocID="{9FB422AE-E8E3-4F4C-92FF-080E0026C77E}" presName="spacer" presStyleCnt="0"/>
      <dgm:spPr/>
    </dgm:pt>
    <dgm:pt modelId="{D1A25E25-41CB-4D86-92EF-B0A4F65E7CD8}" type="pres">
      <dgm:prSet presAssocID="{117525C0-AD2D-4A89-9FDE-0709EC75608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8762577-31C1-4A51-99E1-CB7BD6277017}" type="pres">
      <dgm:prSet presAssocID="{E749F579-5FE4-40F2-B665-30F911826314}" presName="spacer" presStyleCnt="0"/>
      <dgm:spPr/>
    </dgm:pt>
    <dgm:pt modelId="{6A101F27-CCF5-4AC3-8570-06F0140ECF33}" type="pres">
      <dgm:prSet presAssocID="{37075DE1-B91F-409E-B9B3-2205CAAB485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736072E-34D7-4CCC-A38B-ECA20DE84FE0}" type="pres">
      <dgm:prSet presAssocID="{6946B770-DDD1-45EE-A8F5-D75CABBCD2CF}" presName="spacer" presStyleCnt="0"/>
      <dgm:spPr/>
    </dgm:pt>
    <dgm:pt modelId="{E48768B1-6420-42CA-9499-E4402D911D54}" type="pres">
      <dgm:prSet presAssocID="{E15DD600-5F76-42C4-8009-1D7785774BB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2901BDC-AC3D-44A5-B69A-94454D0FB448}" type="pres">
      <dgm:prSet presAssocID="{7F50D883-5132-40A3-8441-BA1DA4BD7177}" presName="spacer" presStyleCnt="0"/>
      <dgm:spPr/>
    </dgm:pt>
    <dgm:pt modelId="{2A373643-D2F1-4612-BFB3-5173785B807F}" type="pres">
      <dgm:prSet presAssocID="{97728BC5-BAA1-4DD9-B6EA-02B940AA8BF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19BE71C-D558-41F9-BF94-F3710839F89B}" type="presOf" srcId="{E15DD600-5F76-42C4-8009-1D7785774BB8}" destId="{E48768B1-6420-42CA-9499-E4402D911D54}" srcOrd="0" destOrd="0" presId="urn:microsoft.com/office/officeart/2005/8/layout/vList2"/>
    <dgm:cxn modelId="{EF966E1F-F719-4274-91A6-5F7AF3C1EFC1}" srcId="{C429079D-9F21-4C1C-9F66-A9E901DB111C}" destId="{117525C0-AD2D-4A89-9FDE-0709EC75608B}" srcOrd="1" destOrd="0" parTransId="{6C6BA3E4-1406-4E1B-8162-252501F78D33}" sibTransId="{E749F579-5FE4-40F2-B665-30F911826314}"/>
    <dgm:cxn modelId="{A6900E2D-E320-4656-8BD0-8ADD77EB2E6D}" srcId="{C429079D-9F21-4C1C-9F66-A9E901DB111C}" destId="{F832D50D-9155-4E59-957F-6E4114B4655F}" srcOrd="0" destOrd="0" parTransId="{115765FA-1315-47EC-ABE7-4A6CCD2FE5D1}" sibTransId="{9FB422AE-E8E3-4F4C-92FF-080E0026C77E}"/>
    <dgm:cxn modelId="{64BD0835-554E-4E27-AEFE-3E6168F43ED3}" srcId="{C429079D-9F21-4C1C-9F66-A9E901DB111C}" destId="{97728BC5-BAA1-4DD9-B6EA-02B940AA8BF2}" srcOrd="4" destOrd="0" parTransId="{B8C41B16-70B8-4CD6-89D3-3A79FCDF1428}" sibTransId="{C52CDD2B-CB9C-434E-A291-5411580A8BA2}"/>
    <dgm:cxn modelId="{A1609D5D-0AA8-4170-9716-7E573A6A591A}" type="presOf" srcId="{37075DE1-B91F-409E-B9B3-2205CAAB485E}" destId="{6A101F27-CCF5-4AC3-8570-06F0140ECF33}" srcOrd="0" destOrd="0" presId="urn:microsoft.com/office/officeart/2005/8/layout/vList2"/>
    <dgm:cxn modelId="{BCFB9054-9F85-4E69-8FAC-8404EAB0DE6A}" srcId="{C429079D-9F21-4C1C-9F66-A9E901DB111C}" destId="{37075DE1-B91F-409E-B9B3-2205CAAB485E}" srcOrd="2" destOrd="0" parTransId="{1FD913E8-3638-4ABE-AA47-67118B47F974}" sibTransId="{6946B770-DDD1-45EE-A8F5-D75CABBCD2CF}"/>
    <dgm:cxn modelId="{5CECC48A-15CC-454D-960E-BD2107F3702E}" srcId="{C429079D-9F21-4C1C-9F66-A9E901DB111C}" destId="{E15DD600-5F76-42C4-8009-1D7785774BB8}" srcOrd="3" destOrd="0" parTransId="{98E2FFB0-A2D4-49E8-893F-DA299A5F103E}" sibTransId="{7F50D883-5132-40A3-8441-BA1DA4BD7177}"/>
    <dgm:cxn modelId="{33F0C89C-828E-4314-B386-679CE89D8608}" type="presOf" srcId="{97728BC5-BAA1-4DD9-B6EA-02B940AA8BF2}" destId="{2A373643-D2F1-4612-BFB3-5173785B807F}" srcOrd="0" destOrd="0" presId="urn:microsoft.com/office/officeart/2005/8/layout/vList2"/>
    <dgm:cxn modelId="{71846FAE-4B69-4210-9BB3-9870F5D503AB}" type="presOf" srcId="{C429079D-9F21-4C1C-9F66-A9E901DB111C}" destId="{4EAA264F-E655-4520-94DB-D780FE49EA23}" srcOrd="0" destOrd="0" presId="urn:microsoft.com/office/officeart/2005/8/layout/vList2"/>
    <dgm:cxn modelId="{E069B6D1-4CDD-4824-B367-9562264CE232}" type="presOf" srcId="{F832D50D-9155-4E59-957F-6E4114B4655F}" destId="{02E0530E-130D-4FB8-8201-A286F7B949CD}" srcOrd="0" destOrd="0" presId="urn:microsoft.com/office/officeart/2005/8/layout/vList2"/>
    <dgm:cxn modelId="{1FB4C5D7-1009-4060-BDE3-6B7D01A8826E}" type="presOf" srcId="{117525C0-AD2D-4A89-9FDE-0709EC75608B}" destId="{D1A25E25-41CB-4D86-92EF-B0A4F65E7CD8}" srcOrd="0" destOrd="0" presId="urn:microsoft.com/office/officeart/2005/8/layout/vList2"/>
    <dgm:cxn modelId="{324CBCB8-93B8-46D3-9E0B-09ED06DAF07E}" type="presParOf" srcId="{4EAA264F-E655-4520-94DB-D780FE49EA23}" destId="{02E0530E-130D-4FB8-8201-A286F7B949CD}" srcOrd="0" destOrd="0" presId="urn:microsoft.com/office/officeart/2005/8/layout/vList2"/>
    <dgm:cxn modelId="{376B625C-4F6A-4CC1-BED1-0CA814B98D1B}" type="presParOf" srcId="{4EAA264F-E655-4520-94DB-D780FE49EA23}" destId="{67B7B578-448F-48DF-BB5E-F52EF3DD29DC}" srcOrd="1" destOrd="0" presId="urn:microsoft.com/office/officeart/2005/8/layout/vList2"/>
    <dgm:cxn modelId="{FB7626D7-8E32-405E-9BD6-D2CE486D1325}" type="presParOf" srcId="{4EAA264F-E655-4520-94DB-D780FE49EA23}" destId="{D1A25E25-41CB-4D86-92EF-B0A4F65E7CD8}" srcOrd="2" destOrd="0" presId="urn:microsoft.com/office/officeart/2005/8/layout/vList2"/>
    <dgm:cxn modelId="{648F36F8-D540-4D24-9BDF-0539CE839BB5}" type="presParOf" srcId="{4EAA264F-E655-4520-94DB-D780FE49EA23}" destId="{08762577-31C1-4A51-99E1-CB7BD6277017}" srcOrd="3" destOrd="0" presId="urn:microsoft.com/office/officeart/2005/8/layout/vList2"/>
    <dgm:cxn modelId="{98D3C98D-A62E-4905-ADB5-DE90EDB0B068}" type="presParOf" srcId="{4EAA264F-E655-4520-94DB-D780FE49EA23}" destId="{6A101F27-CCF5-4AC3-8570-06F0140ECF33}" srcOrd="4" destOrd="0" presId="urn:microsoft.com/office/officeart/2005/8/layout/vList2"/>
    <dgm:cxn modelId="{58B13F59-AFC1-4DE1-AE4F-FFDB7E2E22F7}" type="presParOf" srcId="{4EAA264F-E655-4520-94DB-D780FE49EA23}" destId="{4736072E-34D7-4CCC-A38B-ECA20DE84FE0}" srcOrd="5" destOrd="0" presId="urn:microsoft.com/office/officeart/2005/8/layout/vList2"/>
    <dgm:cxn modelId="{90683EF8-68B8-4325-B9BC-3377E9CD3147}" type="presParOf" srcId="{4EAA264F-E655-4520-94DB-D780FE49EA23}" destId="{E48768B1-6420-42CA-9499-E4402D911D54}" srcOrd="6" destOrd="0" presId="urn:microsoft.com/office/officeart/2005/8/layout/vList2"/>
    <dgm:cxn modelId="{C1AB4A9B-9686-4595-A372-DA8DE029328B}" type="presParOf" srcId="{4EAA264F-E655-4520-94DB-D780FE49EA23}" destId="{C2901BDC-AC3D-44A5-B69A-94454D0FB448}" srcOrd="7" destOrd="0" presId="urn:microsoft.com/office/officeart/2005/8/layout/vList2"/>
    <dgm:cxn modelId="{0D92C413-32C3-4FDB-B976-616F35E87034}" type="presParOf" srcId="{4EAA264F-E655-4520-94DB-D780FE49EA23}" destId="{2A373643-D2F1-4612-BFB3-5173785B807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497D6-BCAA-4AA1-B8B0-0878FDE16BEE}">
      <dsp:nvSpPr>
        <dsp:cNvPr id="0" name=""/>
        <dsp:cNvSpPr/>
      </dsp:nvSpPr>
      <dsp:spPr>
        <a:xfrm>
          <a:off x="0" y="126255"/>
          <a:ext cx="6906491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objectives of this project were: </a:t>
          </a:r>
          <a:endParaRPr lang="en-IN" sz="2100" kern="1200"/>
        </a:p>
      </dsp:txBody>
      <dsp:txXfrm>
        <a:off x="40930" y="167185"/>
        <a:ext cx="6824631" cy="756591"/>
      </dsp:txXfrm>
    </dsp:sp>
    <dsp:sp modelId="{51CB5EDD-704E-4255-BE97-10270D9C4341}">
      <dsp:nvSpPr>
        <dsp:cNvPr id="0" name=""/>
        <dsp:cNvSpPr/>
      </dsp:nvSpPr>
      <dsp:spPr>
        <a:xfrm>
          <a:off x="0" y="1025186"/>
          <a:ext cx="6906491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To analyze historical </a:t>
          </a:r>
          <a:r>
            <a:rPr lang="en-US" sz="2100" kern="1200" dirty="0"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a:rPr>
            <a:t>supermarket</a:t>
          </a:r>
          <a:r>
            <a:rPr lang="en-US" sz="2100" kern="1200" dirty="0"/>
            <a:t> sales data </a:t>
          </a:r>
          <a:endParaRPr lang="en-IN" sz="2100" kern="1200" dirty="0"/>
        </a:p>
      </dsp:txBody>
      <dsp:txXfrm>
        <a:off x="40930" y="1066116"/>
        <a:ext cx="6824631" cy="756591"/>
      </dsp:txXfrm>
    </dsp:sp>
    <dsp:sp modelId="{5CDB1510-E2F6-4A64-AEEC-7DA2C785F091}">
      <dsp:nvSpPr>
        <dsp:cNvPr id="0" name=""/>
        <dsp:cNvSpPr/>
      </dsp:nvSpPr>
      <dsp:spPr>
        <a:xfrm>
          <a:off x="0" y="1924118"/>
          <a:ext cx="6906491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understand the relationship between sales, discounts, and profit </a:t>
          </a:r>
          <a:endParaRPr lang="en-IN" sz="2100" kern="1200"/>
        </a:p>
      </dsp:txBody>
      <dsp:txXfrm>
        <a:off x="40930" y="1965048"/>
        <a:ext cx="6824631" cy="756591"/>
      </dsp:txXfrm>
    </dsp:sp>
    <dsp:sp modelId="{4E4EE7BE-E684-427C-BA85-B0F972ED4ED1}">
      <dsp:nvSpPr>
        <dsp:cNvPr id="0" name=""/>
        <dsp:cNvSpPr/>
      </dsp:nvSpPr>
      <dsp:spPr>
        <a:xfrm>
          <a:off x="0" y="2823049"/>
          <a:ext cx="6906491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build a machine learning model for profit prediction </a:t>
          </a:r>
          <a:endParaRPr lang="en-IN" sz="2100" kern="1200"/>
        </a:p>
      </dsp:txBody>
      <dsp:txXfrm>
        <a:off x="40930" y="2863979"/>
        <a:ext cx="6824631" cy="756591"/>
      </dsp:txXfrm>
    </dsp:sp>
    <dsp:sp modelId="{5E880734-AA35-46DF-A61E-7DD431B4ED08}">
      <dsp:nvSpPr>
        <dsp:cNvPr id="0" name=""/>
        <dsp:cNvSpPr/>
      </dsp:nvSpPr>
      <dsp:spPr>
        <a:xfrm>
          <a:off x="0" y="3721980"/>
          <a:ext cx="6906491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deploy an interactive application for real-time businessdecision support </a:t>
          </a:r>
          <a:endParaRPr lang="en-IN" sz="2100" kern="1200"/>
        </a:p>
      </dsp:txBody>
      <dsp:txXfrm>
        <a:off x="40930" y="3762910"/>
        <a:ext cx="6824631" cy="756591"/>
      </dsp:txXfrm>
    </dsp:sp>
    <dsp:sp modelId="{88F0356A-CE4F-41DB-9AAB-57D13279DC4D}">
      <dsp:nvSpPr>
        <dsp:cNvPr id="0" name=""/>
        <dsp:cNvSpPr/>
      </dsp:nvSpPr>
      <dsp:spPr>
        <a:xfrm>
          <a:off x="0" y="4620912"/>
          <a:ext cx="6906491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demonstrate the use of </a:t>
          </a:r>
          <a:r>
            <a:rPr lang="en-US" sz="2100" b="1" kern="1200"/>
            <a:t>Excel, SQL, Python, and Machine Learning </a:t>
          </a:r>
          <a:r>
            <a:rPr lang="en-US" sz="2100" kern="1200"/>
            <a:t>in a single end-to-end project </a:t>
          </a:r>
          <a:endParaRPr lang="en-IN" sz="2100" kern="1200"/>
        </a:p>
      </dsp:txBody>
      <dsp:txXfrm>
        <a:off x="40930" y="4661842"/>
        <a:ext cx="6824631" cy="7565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3DE42-C362-45B1-BDC1-0BDB2CE8B1C2}">
      <dsp:nvSpPr>
        <dsp:cNvPr id="0" name=""/>
        <dsp:cNvSpPr/>
      </dsp:nvSpPr>
      <dsp:spPr>
        <a:xfrm>
          <a:off x="0" y="1235257"/>
          <a:ext cx="4143894" cy="41438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26EB2-5640-4871-AA8F-757ED6A9021F}">
      <dsp:nvSpPr>
        <dsp:cNvPr id="0" name=""/>
        <dsp:cNvSpPr/>
      </dsp:nvSpPr>
      <dsp:spPr>
        <a:xfrm>
          <a:off x="460317" y="1695575"/>
          <a:ext cx="3223259" cy="32232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791F0-DF70-4886-B442-82A7B4DBAAC7}">
      <dsp:nvSpPr>
        <dsp:cNvPr id="0" name=""/>
        <dsp:cNvSpPr/>
      </dsp:nvSpPr>
      <dsp:spPr>
        <a:xfrm>
          <a:off x="920635" y="2155892"/>
          <a:ext cx="2302624" cy="23026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F8EE9-02D6-44D3-939E-955199AAF2A6}">
      <dsp:nvSpPr>
        <dsp:cNvPr id="0" name=""/>
        <dsp:cNvSpPr/>
      </dsp:nvSpPr>
      <dsp:spPr>
        <a:xfrm>
          <a:off x="1381298" y="2616555"/>
          <a:ext cx="1381298" cy="13812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63740-EEF1-4C3D-80FC-FAB732465858}">
      <dsp:nvSpPr>
        <dsp:cNvPr id="0" name=""/>
        <dsp:cNvSpPr/>
      </dsp:nvSpPr>
      <dsp:spPr>
        <a:xfrm>
          <a:off x="1841615" y="3076873"/>
          <a:ext cx="460662" cy="4606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763F3-533E-464A-B6F9-728917D8B0C0}">
      <dsp:nvSpPr>
        <dsp:cNvPr id="0" name=""/>
        <dsp:cNvSpPr/>
      </dsp:nvSpPr>
      <dsp:spPr>
        <a:xfrm>
          <a:off x="4834543" y="206466"/>
          <a:ext cx="2071947" cy="731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dataset contains historical grocery sales transactions with attributes such as: </a:t>
          </a:r>
          <a:endParaRPr lang="en-IN" sz="1200" kern="1200"/>
        </a:p>
      </dsp:txBody>
      <dsp:txXfrm>
        <a:off x="4834543" y="206466"/>
        <a:ext cx="2071947" cy="731535"/>
      </dsp:txXfrm>
    </dsp:sp>
    <dsp:sp modelId="{D487EAEF-2CE5-49DA-B6A3-3B07ABA28153}">
      <dsp:nvSpPr>
        <dsp:cNvPr id="0" name=""/>
        <dsp:cNvSpPr/>
      </dsp:nvSpPr>
      <dsp:spPr>
        <a:xfrm>
          <a:off x="4316556" y="572234"/>
          <a:ext cx="5179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52DAC4-2E22-4723-BDF7-C028ABFA009B}">
      <dsp:nvSpPr>
        <dsp:cNvPr id="0" name=""/>
        <dsp:cNvSpPr/>
      </dsp:nvSpPr>
      <dsp:spPr>
        <a:xfrm rot="5400000">
          <a:off x="1825040" y="819141"/>
          <a:ext cx="2734970" cy="224115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8A4D41-5D04-4C57-A97C-989C2E25E347}">
      <dsp:nvSpPr>
        <dsp:cNvPr id="0" name=""/>
        <dsp:cNvSpPr/>
      </dsp:nvSpPr>
      <dsp:spPr>
        <a:xfrm>
          <a:off x="4834543" y="979993"/>
          <a:ext cx="2071947" cy="731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Order details (Order ID, Customer Name) </a:t>
          </a:r>
          <a:endParaRPr lang="en-IN" sz="1200" kern="1200"/>
        </a:p>
      </dsp:txBody>
      <dsp:txXfrm>
        <a:off x="4834543" y="979993"/>
        <a:ext cx="2071947" cy="731535"/>
      </dsp:txXfrm>
    </dsp:sp>
    <dsp:sp modelId="{3D16B3D2-B0C7-4607-94DC-1B5240025929}">
      <dsp:nvSpPr>
        <dsp:cNvPr id="0" name=""/>
        <dsp:cNvSpPr/>
      </dsp:nvSpPr>
      <dsp:spPr>
        <a:xfrm>
          <a:off x="4316556" y="1345761"/>
          <a:ext cx="5179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4B5E55-153F-4A06-8D10-C231A092E3D3}">
      <dsp:nvSpPr>
        <dsp:cNvPr id="0" name=""/>
        <dsp:cNvSpPr/>
      </dsp:nvSpPr>
      <dsp:spPr>
        <a:xfrm rot="5400000">
          <a:off x="2226928" y="1533894"/>
          <a:ext cx="2277208" cy="189928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4AEF6-AAFA-458E-9558-FBE4FD0F30D7}">
      <dsp:nvSpPr>
        <dsp:cNvPr id="0" name=""/>
        <dsp:cNvSpPr/>
      </dsp:nvSpPr>
      <dsp:spPr>
        <a:xfrm>
          <a:off x="4834543" y="1753520"/>
          <a:ext cx="2071947" cy="731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Product information (Category, Sub-category) </a:t>
          </a:r>
        </a:p>
      </dsp:txBody>
      <dsp:txXfrm>
        <a:off x="4834543" y="1753520"/>
        <a:ext cx="2071947" cy="731535"/>
      </dsp:txXfrm>
    </dsp:sp>
    <dsp:sp modelId="{3222481B-BB06-456C-A068-EB21763365C8}">
      <dsp:nvSpPr>
        <dsp:cNvPr id="0" name=""/>
        <dsp:cNvSpPr/>
      </dsp:nvSpPr>
      <dsp:spPr>
        <a:xfrm>
          <a:off x="4316556" y="2119288"/>
          <a:ext cx="5179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470F3-D733-495F-9FD3-EA210BD544D7}">
      <dsp:nvSpPr>
        <dsp:cNvPr id="0" name=""/>
        <dsp:cNvSpPr/>
      </dsp:nvSpPr>
      <dsp:spPr>
        <a:xfrm rot="5400000">
          <a:off x="2621013" y="2219432"/>
          <a:ext cx="1795687" cy="159539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BD2A07-8EF9-4B06-8491-B9830B29D447}">
      <dsp:nvSpPr>
        <dsp:cNvPr id="0" name=""/>
        <dsp:cNvSpPr/>
      </dsp:nvSpPr>
      <dsp:spPr>
        <a:xfrm>
          <a:off x="4834543" y="2510472"/>
          <a:ext cx="2071947" cy="731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Location details (City, Region, State) </a:t>
          </a:r>
          <a:endParaRPr lang="en-IN" sz="1200" kern="1200"/>
        </a:p>
      </dsp:txBody>
      <dsp:txXfrm>
        <a:off x="4834543" y="2510472"/>
        <a:ext cx="2071947" cy="731535"/>
      </dsp:txXfrm>
    </dsp:sp>
    <dsp:sp modelId="{B4125334-1861-487E-8646-131554FCE990}">
      <dsp:nvSpPr>
        <dsp:cNvPr id="0" name=""/>
        <dsp:cNvSpPr/>
      </dsp:nvSpPr>
      <dsp:spPr>
        <a:xfrm>
          <a:off x="4316556" y="2876239"/>
          <a:ext cx="5179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0ACD7E-4F8C-4F7A-B915-5F9D28010386}">
      <dsp:nvSpPr>
        <dsp:cNvPr id="0" name=""/>
        <dsp:cNvSpPr/>
      </dsp:nvSpPr>
      <dsp:spPr>
        <a:xfrm rot="5400000">
          <a:off x="3013302" y="2943232"/>
          <a:ext cx="1370247" cy="1236261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4E5B8B-29D7-403E-B0C0-BDF57CA7A831}">
      <dsp:nvSpPr>
        <dsp:cNvPr id="0" name=""/>
        <dsp:cNvSpPr/>
      </dsp:nvSpPr>
      <dsp:spPr>
        <a:xfrm>
          <a:off x="4834543" y="3245322"/>
          <a:ext cx="2071947" cy="731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Financial metrics (Sales, Discount, Profit) </a:t>
          </a:r>
        </a:p>
      </dsp:txBody>
      <dsp:txXfrm>
        <a:off x="4834543" y="3245322"/>
        <a:ext cx="2071947" cy="731535"/>
      </dsp:txXfrm>
    </dsp:sp>
    <dsp:sp modelId="{D55DE624-8A17-4278-ACDC-2B0C6B3E1787}">
      <dsp:nvSpPr>
        <dsp:cNvPr id="0" name=""/>
        <dsp:cNvSpPr/>
      </dsp:nvSpPr>
      <dsp:spPr>
        <a:xfrm>
          <a:off x="4316556" y="3611090"/>
          <a:ext cx="5179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3C9F77-E5B6-4090-B65E-F61A359A04FC}">
      <dsp:nvSpPr>
        <dsp:cNvPr id="0" name=""/>
        <dsp:cNvSpPr/>
      </dsp:nvSpPr>
      <dsp:spPr>
        <a:xfrm rot="5400000">
          <a:off x="3384180" y="3645623"/>
          <a:ext cx="966908" cy="897843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2266A5-3D4D-461A-9185-42CF1E924A80}">
      <dsp:nvSpPr>
        <dsp:cNvPr id="0" name=""/>
        <dsp:cNvSpPr/>
      </dsp:nvSpPr>
      <dsp:spPr>
        <a:xfrm>
          <a:off x="0" y="67279"/>
          <a:ext cx="5536397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Excel </a:t>
          </a:r>
          <a:r>
            <a:rPr lang="en-IN" sz="1800" kern="1200"/>
            <a:t>– Initial data understanding &amp; validation </a:t>
          </a:r>
        </a:p>
      </dsp:txBody>
      <dsp:txXfrm>
        <a:off x="35083" y="102362"/>
        <a:ext cx="5466231" cy="648506"/>
      </dsp:txXfrm>
    </dsp:sp>
    <dsp:sp modelId="{4F951FA7-368B-4DA3-857D-489BED87BE13}">
      <dsp:nvSpPr>
        <dsp:cNvPr id="0" name=""/>
        <dsp:cNvSpPr/>
      </dsp:nvSpPr>
      <dsp:spPr>
        <a:xfrm>
          <a:off x="0" y="837791"/>
          <a:ext cx="5536397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SQL </a:t>
          </a:r>
          <a:r>
            <a:rPr lang="en-US" sz="1800" kern="1200"/>
            <a:t>– Structured querying &amp; business-level analysis </a:t>
          </a:r>
          <a:endParaRPr lang="en-IN" sz="1800" kern="1200"/>
        </a:p>
      </dsp:txBody>
      <dsp:txXfrm>
        <a:off x="35083" y="872874"/>
        <a:ext cx="5466231" cy="648506"/>
      </dsp:txXfrm>
    </dsp:sp>
    <dsp:sp modelId="{0A4252EE-C49A-412E-B9BF-07AFE7076C8D}">
      <dsp:nvSpPr>
        <dsp:cNvPr id="0" name=""/>
        <dsp:cNvSpPr/>
      </dsp:nvSpPr>
      <dsp:spPr>
        <a:xfrm>
          <a:off x="0" y="1608304"/>
          <a:ext cx="5536397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Python </a:t>
          </a:r>
          <a:r>
            <a:rPr lang="en-US" sz="1800" kern="1200"/>
            <a:t>– Data cleaning, EDA, feature engineering </a:t>
          </a:r>
          <a:endParaRPr lang="en-IN" sz="1800" kern="1200"/>
        </a:p>
      </dsp:txBody>
      <dsp:txXfrm>
        <a:off x="35083" y="1643387"/>
        <a:ext cx="5466231" cy="648506"/>
      </dsp:txXfrm>
    </dsp:sp>
    <dsp:sp modelId="{A2F1B821-0993-45F0-810F-53FAD46CD97B}">
      <dsp:nvSpPr>
        <dsp:cNvPr id="0" name=""/>
        <dsp:cNvSpPr/>
      </dsp:nvSpPr>
      <dsp:spPr>
        <a:xfrm>
          <a:off x="0" y="2378816"/>
          <a:ext cx="5536397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Machine Learning (Scikit-learn) </a:t>
          </a:r>
          <a:r>
            <a:rPr lang="en-US" sz="1800" kern="1200"/>
            <a:t>– Model development </a:t>
          </a:r>
          <a:endParaRPr lang="en-IN" sz="1800" kern="1200"/>
        </a:p>
      </dsp:txBody>
      <dsp:txXfrm>
        <a:off x="35083" y="2413899"/>
        <a:ext cx="5466231" cy="648506"/>
      </dsp:txXfrm>
    </dsp:sp>
    <dsp:sp modelId="{3BA2F19A-B352-407F-AFAC-325F2A5901DA}">
      <dsp:nvSpPr>
        <dsp:cNvPr id="0" name=""/>
        <dsp:cNvSpPr/>
      </dsp:nvSpPr>
      <dsp:spPr>
        <a:xfrm>
          <a:off x="0" y="3149329"/>
          <a:ext cx="5536397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Streamlit </a:t>
          </a:r>
          <a:r>
            <a:rPr lang="en-US" sz="1800" kern="1200"/>
            <a:t>– Model deployment &amp; dashboard creation </a:t>
          </a:r>
          <a:endParaRPr lang="en-IN" sz="1800" kern="1200"/>
        </a:p>
      </dsp:txBody>
      <dsp:txXfrm>
        <a:off x="35083" y="3184412"/>
        <a:ext cx="5466231" cy="6485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0765C-D592-417C-9043-22F753B5C423}">
      <dsp:nvSpPr>
        <dsp:cNvPr id="0" name=""/>
        <dsp:cNvSpPr/>
      </dsp:nvSpPr>
      <dsp:spPr>
        <a:xfrm>
          <a:off x="2624466" y="1342715"/>
          <a:ext cx="1657557" cy="16575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E4BA6F3-D1D8-443F-865A-A7BE1AF4B79C}">
      <dsp:nvSpPr>
        <dsp:cNvPr id="0" name=""/>
        <dsp:cNvSpPr/>
      </dsp:nvSpPr>
      <dsp:spPr>
        <a:xfrm>
          <a:off x="2417271" y="105458"/>
          <a:ext cx="2071947" cy="11286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Python was used for deeper data preparation: </a:t>
          </a:r>
          <a:endParaRPr lang="en-IN" sz="2000" kern="1200"/>
        </a:p>
      </dsp:txBody>
      <dsp:txXfrm>
        <a:off x="2417271" y="105458"/>
        <a:ext cx="2071947" cy="1128687"/>
      </dsp:txXfrm>
    </dsp:sp>
    <dsp:sp modelId="{B3E711D5-F20A-4E7B-85D7-2A94912F024F}">
      <dsp:nvSpPr>
        <dsp:cNvPr id="0" name=""/>
        <dsp:cNvSpPr/>
      </dsp:nvSpPr>
      <dsp:spPr>
        <a:xfrm>
          <a:off x="3162482" y="1653372"/>
          <a:ext cx="1657557" cy="16575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AF0BD92-001A-4E0E-AE9B-30E9721C1870}">
      <dsp:nvSpPr>
        <dsp:cNvPr id="0" name=""/>
        <dsp:cNvSpPr/>
      </dsp:nvSpPr>
      <dsp:spPr>
        <a:xfrm>
          <a:off x="4942975" y="1180399"/>
          <a:ext cx="1963515" cy="123618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Cleaned and standardized column names </a:t>
          </a:r>
          <a:endParaRPr lang="en-IN" sz="2000" kern="1200"/>
        </a:p>
      </dsp:txBody>
      <dsp:txXfrm>
        <a:off x="4942975" y="1180399"/>
        <a:ext cx="1963515" cy="1236181"/>
      </dsp:txXfrm>
    </dsp:sp>
    <dsp:sp modelId="{4898358C-37FB-4071-AD74-34285C982370}">
      <dsp:nvSpPr>
        <dsp:cNvPr id="0" name=""/>
        <dsp:cNvSpPr/>
      </dsp:nvSpPr>
      <dsp:spPr>
        <a:xfrm>
          <a:off x="3162482" y="2274688"/>
          <a:ext cx="1657557" cy="16575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40DCE95-DEB3-45E9-BABE-8C97592E9DAC}">
      <dsp:nvSpPr>
        <dsp:cNvPr id="0" name=""/>
        <dsp:cNvSpPr/>
      </dsp:nvSpPr>
      <dsp:spPr>
        <a:xfrm>
          <a:off x="4942975" y="3023921"/>
          <a:ext cx="1963515" cy="138129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Converted numerical and date fields to proper formats </a:t>
          </a:r>
          <a:endParaRPr lang="en-IN" sz="2000" kern="1200"/>
        </a:p>
      </dsp:txBody>
      <dsp:txXfrm>
        <a:off x="4942975" y="3023921"/>
        <a:ext cx="1963515" cy="1381298"/>
      </dsp:txXfrm>
    </dsp:sp>
    <dsp:sp modelId="{5177600A-42D2-467D-AD6B-136499EC9B88}">
      <dsp:nvSpPr>
        <dsp:cNvPr id="0" name=""/>
        <dsp:cNvSpPr/>
      </dsp:nvSpPr>
      <dsp:spPr>
        <a:xfrm>
          <a:off x="2624466" y="2585883"/>
          <a:ext cx="1657557" cy="16575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7783D2E-1B2B-4C28-A081-17563EC60902}">
      <dsp:nvSpPr>
        <dsp:cNvPr id="0" name=""/>
        <dsp:cNvSpPr/>
      </dsp:nvSpPr>
      <dsp:spPr>
        <a:xfrm>
          <a:off x="2417271" y="4351472"/>
          <a:ext cx="2071947" cy="11286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Removed irrelevant columns for modeling </a:t>
          </a:r>
        </a:p>
      </dsp:txBody>
      <dsp:txXfrm>
        <a:off x="2417271" y="4351472"/>
        <a:ext cx="2071947" cy="1128687"/>
      </dsp:txXfrm>
    </dsp:sp>
    <dsp:sp modelId="{EDAD4379-CE7B-4930-AD07-3010168A2072}">
      <dsp:nvSpPr>
        <dsp:cNvPr id="0" name=""/>
        <dsp:cNvSpPr/>
      </dsp:nvSpPr>
      <dsp:spPr>
        <a:xfrm>
          <a:off x="2086450" y="2274688"/>
          <a:ext cx="1657557" cy="16575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71A3D68-2C49-4CD9-AAED-3090E3945D24}">
      <dsp:nvSpPr>
        <dsp:cNvPr id="0" name=""/>
        <dsp:cNvSpPr/>
      </dsp:nvSpPr>
      <dsp:spPr>
        <a:xfrm>
          <a:off x="0" y="3023921"/>
          <a:ext cx="1963515" cy="138129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Handled encoding of categorical variables </a:t>
          </a:r>
          <a:endParaRPr lang="en-IN" sz="2000" kern="1200"/>
        </a:p>
      </dsp:txBody>
      <dsp:txXfrm>
        <a:off x="0" y="3023921"/>
        <a:ext cx="1963515" cy="1381298"/>
      </dsp:txXfrm>
    </dsp:sp>
    <dsp:sp modelId="{E7F471D6-65DB-4F09-82E3-EC0D040E1EA4}">
      <dsp:nvSpPr>
        <dsp:cNvPr id="0" name=""/>
        <dsp:cNvSpPr/>
      </dsp:nvSpPr>
      <dsp:spPr>
        <a:xfrm>
          <a:off x="2086450" y="1653372"/>
          <a:ext cx="1657557" cy="16575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C0BCE31-200B-474C-B251-E598F025DDDD}">
      <dsp:nvSpPr>
        <dsp:cNvPr id="0" name=""/>
        <dsp:cNvSpPr/>
      </dsp:nvSpPr>
      <dsp:spPr>
        <a:xfrm>
          <a:off x="0" y="1180399"/>
          <a:ext cx="1963515" cy="138129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Prepared a clean dataset suitable for machine learning </a:t>
          </a:r>
          <a:endParaRPr lang="en-IN" sz="2000" kern="1200"/>
        </a:p>
      </dsp:txBody>
      <dsp:txXfrm>
        <a:off x="0" y="1180399"/>
        <a:ext cx="1963515" cy="13812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67DA09-9761-41CB-A6C9-C2AB9C158C75}">
      <dsp:nvSpPr>
        <dsp:cNvPr id="0" name=""/>
        <dsp:cNvSpPr/>
      </dsp:nvSpPr>
      <dsp:spPr>
        <a:xfrm>
          <a:off x="0" y="121935"/>
          <a:ext cx="6906491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EDA was performed using Python libraries: </a:t>
          </a:r>
          <a:endParaRPr lang="en-IN" sz="1800" kern="1200"/>
        </a:p>
      </dsp:txBody>
      <dsp:txXfrm>
        <a:off x="35083" y="157018"/>
        <a:ext cx="6836325" cy="648506"/>
      </dsp:txXfrm>
    </dsp:sp>
    <dsp:sp modelId="{7F98E075-66A2-4A00-9463-ABF59F38A252}">
      <dsp:nvSpPr>
        <dsp:cNvPr id="0" name=""/>
        <dsp:cNvSpPr/>
      </dsp:nvSpPr>
      <dsp:spPr>
        <a:xfrm>
          <a:off x="0" y="892448"/>
          <a:ext cx="6906491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Analyzed distributions of sales, profit, and discount </a:t>
          </a:r>
          <a:endParaRPr lang="en-IN" sz="1800" kern="1200"/>
        </a:p>
      </dsp:txBody>
      <dsp:txXfrm>
        <a:off x="35083" y="927531"/>
        <a:ext cx="6836325" cy="648506"/>
      </dsp:txXfrm>
    </dsp:sp>
    <dsp:sp modelId="{80CA3145-E525-46C2-847F-E2D1D60A079F}">
      <dsp:nvSpPr>
        <dsp:cNvPr id="0" name=""/>
        <dsp:cNvSpPr/>
      </dsp:nvSpPr>
      <dsp:spPr>
        <a:xfrm>
          <a:off x="0" y="1662960"/>
          <a:ext cx="6906491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Studied relationships such as: </a:t>
          </a:r>
        </a:p>
      </dsp:txBody>
      <dsp:txXfrm>
        <a:off x="35083" y="1698043"/>
        <a:ext cx="6836325" cy="648506"/>
      </dsp:txXfrm>
    </dsp:sp>
    <dsp:sp modelId="{1C23BBAA-6B00-4947-A391-0BEB217855BC}">
      <dsp:nvSpPr>
        <dsp:cNvPr id="0" name=""/>
        <dsp:cNvSpPr/>
      </dsp:nvSpPr>
      <dsp:spPr>
        <a:xfrm>
          <a:off x="0" y="2433473"/>
          <a:ext cx="6906491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Discount vs Profit </a:t>
          </a:r>
        </a:p>
      </dsp:txBody>
      <dsp:txXfrm>
        <a:off x="35083" y="2468556"/>
        <a:ext cx="6836325" cy="648506"/>
      </dsp:txXfrm>
    </dsp:sp>
    <dsp:sp modelId="{5ACE1747-A66D-48B6-8842-AE947C680DA4}">
      <dsp:nvSpPr>
        <dsp:cNvPr id="0" name=""/>
        <dsp:cNvSpPr/>
      </dsp:nvSpPr>
      <dsp:spPr>
        <a:xfrm>
          <a:off x="0" y="3203985"/>
          <a:ext cx="6906491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Category vs Profit </a:t>
          </a:r>
        </a:p>
      </dsp:txBody>
      <dsp:txXfrm>
        <a:off x="35083" y="3239068"/>
        <a:ext cx="6836325" cy="648506"/>
      </dsp:txXfrm>
    </dsp:sp>
    <dsp:sp modelId="{9F1FB359-1AE0-47BE-ACCC-FB8710228573}">
      <dsp:nvSpPr>
        <dsp:cNvPr id="0" name=""/>
        <dsp:cNvSpPr/>
      </dsp:nvSpPr>
      <dsp:spPr>
        <a:xfrm>
          <a:off x="0" y="3974498"/>
          <a:ext cx="6906491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Identified seasonal patterns using year and month </a:t>
          </a:r>
          <a:endParaRPr lang="en-IN" sz="1800" kern="1200"/>
        </a:p>
      </dsp:txBody>
      <dsp:txXfrm>
        <a:off x="35083" y="4009581"/>
        <a:ext cx="6836325" cy="648506"/>
      </dsp:txXfrm>
    </dsp:sp>
    <dsp:sp modelId="{53A14BDF-A824-4EEF-AFB9-04816129E55E}">
      <dsp:nvSpPr>
        <dsp:cNvPr id="0" name=""/>
        <dsp:cNvSpPr/>
      </dsp:nvSpPr>
      <dsp:spPr>
        <a:xfrm>
          <a:off x="0" y="4745010"/>
          <a:ext cx="6906491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step confirmed many insights initially observed in Excel and SQL. </a:t>
          </a:r>
          <a:endParaRPr lang="en-IN" sz="1800" kern="1200"/>
        </a:p>
      </dsp:txBody>
      <dsp:txXfrm>
        <a:off x="35083" y="4780093"/>
        <a:ext cx="6836325" cy="6485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E0530E-130D-4FB8-8201-A286F7B949CD}">
      <dsp:nvSpPr>
        <dsp:cNvPr id="0" name=""/>
        <dsp:cNvSpPr/>
      </dsp:nvSpPr>
      <dsp:spPr>
        <a:xfrm>
          <a:off x="0" y="57349"/>
          <a:ext cx="6906491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Additional features were created to enhance model learning: </a:t>
          </a:r>
          <a:endParaRPr lang="en-IN" sz="2600" kern="1200"/>
        </a:p>
      </dsp:txBody>
      <dsp:txXfrm>
        <a:off x="50489" y="107838"/>
        <a:ext cx="6805513" cy="933302"/>
      </dsp:txXfrm>
    </dsp:sp>
    <dsp:sp modelId="{D1A25E25-41CB-4D86-92EF-B0A4F65E7CD8}">
      <dsp:nvSpPr>
        <dsp:cNvPr id="0" name=""/>
        <dsp:cNvSpPr/>
      </dsp:nvSpPr>
      <dsp:spPr>
        <a:xfrm>
          <a:off x="0" y="1166509"/>
          <a:ext cx="6906491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Year, Month, Quarter </a:t>
          </a:r>
        </a:p>
      </dsp:txBody>
      <dsp:txXfrm>
        <a:off x="50489" y="1216998"/>
        <a:ext cx="6805513" cy="933302"/>
      </dsp:txXfrm>
    </dsp:sp>
    <dsp:sp modelId="{6A101F27-CCF5-4AC3-8570-06F0140ECF33}">
      <dsp:nvSpPr>
        <dsp:cNvPr id="0" name=""/>
        <dsp:cNvSpPr/>
      </dsp:nvSpPr>
      <dsp:spPr>
        <a:xfrm>
          <a:off x="0" y="2275669"/>
          <a:ext cx="6906491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Weekend indicator </a:t>
          </a:r>
        </a:p>
      </dsp:txBody>
      <dsp:txXfrm>
        <a:off x="50489" y="2326158"/>
        <a:ext cx="6805513" cy="933302"/>
      </dsp:txXfrm>
    </dsp:sp>
    <dsp:sp modelId="{E48768B1-6420-42CA-9499-E4402D911D54}">
      <dsp:nvSpPr>
        <dsp:cNvPr id="0" name=""/>
        <dsp:cNvSpPr/>
      </dsp:nvSpPr>
      <dsp:spPr>
        <a:xfrm>
          <a:off x="0" y="3384829"/>
          <a:ext cx="6906491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One-hot encoding for categorical variables </a:t>
          </a:r>
          <a:endParaRPr lang="en-IN" sz="2600" kern="1200"/>
        </a:p>
      </dsp:txBody>
      <dsp:txXfrm>
        <a:off x="50489" y="3435318"/>
        <a:ext cx="6805513" cy="933302"/>
      </dsp:txXfrm>
    </dsp:sp>
    <dsp:sp modelId="{2A373643-D2F1-4612-BFB3-5173785B807F}">
      <dsp:nvSpPr>
        <dsp:cNvPr id="0" name=""/>
        <dsp:cNvSpPr/>
      </dsp:nvSpPr>
      <dsp:spPr>
        <a:xfrm>
          <a:off x="0" y="4493989"/>
          <a:ext cx="6906491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Numeric-only feature selection for ML compatibility </a:t>
          </a:r>
          <a:endParaRPr lang="en-IN" sz="2600" kern="1200"/>
        </a:p>
      </dsp:txBody>
      <dsp:txXfrm>
        <a:off x="50489" y="4544478"/>
        <a:ext cx="6805513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5A87E-4E4B-1A2A-0F57-93E79C6A7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2C4B8-325D-3D85-1F21-710EE8D16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5A98D-90A4-080C-18A1-2E30AD43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8F89-A8C9-4D2C-B70C-C4BF92E1C4E1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FF810-C102-47A6-C4CE-45769373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BF125-148E-777F-ABC5-DEC9AA769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0EBC-2F80-4BAA-8C31-A253BBBFC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39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68D10-B7A3-A3A3-0228-87B588C00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2C3E1-AB9D-68B4-DBFA-84B805959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9DEC5-0A9A-7DC2-A9E6-5C1F5333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8F89-A8C9-4D2C-B70C-C4BF92E1C4E1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760F9-E270-C28E-0A82-85587267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9A776-3A35-BF45-B36C-0248BF2E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0EBC-2F80-4BAA-8C31-A253BBBFC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619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E1544-7AEF-6D14-A6A2-8AE8411B3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15D8C-D475-ADA7-DBEC-205572D4A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A2BF5-E873-8E22-B085-B61825552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8F89-A8C9-4D2C-B70C-C4BF92E1C4E1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51658-AF4E-60F6-61F6-247BC46A8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2DE42-A028-D3DB-B723-C96B4903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0EBC-2F80-4BAA-8C31-A253BBBFC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83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86328-BC10-396C-6D50-A2662B11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64406-D91D-A160-2E25-04C6319B2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2441E-3CE0-C561-6F6F-684C20C98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C3B25-AC5A-F69A-F09B-9AB054FD9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8F89-A8C9-4D2C-B70C-C4BF92E1C4E1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9C449-67F7-45E2-3EED-121552585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76D16-E611-44A4-A04E-0E0DC02C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0EBC-2F80-4BAA-8C31-A253BBBFC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078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C9D3-3D3C-70B3-F85B-33AB0ADFA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BF5C8-5CAD-5EE8-FFF9-F56D0C36B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83691-75C0-E28D-5197-EA2C6893F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7BD85-6E66-37F6-49D3-2FECA7F6B7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B5755-2FBC-1D16-E306-BA541112EF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A2159-ABCA-FC9A-407E-32CBA575D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8F89-A8C9-4D2C-B70C-C4BF92E1C4E1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ED0A47-76FB-2E62-C146-FADC7AFA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98949-9C30-D492-54B9-C41B8AEC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0EBC-2F80-4BAA-8C31-A253BBBFC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83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1770-D348-6BFF-1728-41B1A21C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EA200-421A-038F-D550-CC344E475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8F89-A8C9-4D2C-B70C-C4BF92E1C4E1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09765-4EC2-E947-04EC-15C953A2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EBBB1-4698-5735-6999-E1CA7F4EA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0EBC-2F80-4BAA-8C31-A253BBBFC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523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38ACC-5B9D-0D37-9C37-53F1D59B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8F89-A8C9-4D2C-B70C-C4BF92E1C4E1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87BAD9-C3CC-C817-C0A1-10ACED4A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95560-66A7-0D5C-36FB-88B93A40A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0EBC-2F80-4BAA-8C31-A253BBBFC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986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FBB8-D435-899A-7D6F-2FA48728D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568E6-D939-8BEC-76FE-56013735D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9D378-BDEE-6E7B-73C8-3DB8D2BFE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D47FB-29C9-19F0-A2BA-26E869DEA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8F89-A8C9-4D2C-B70C-C4BF92E1C4E1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30FB3-C207-AE0B-8F11-74C55E07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10670-6384-BB9A-3FD7-B6C89E00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0EBC-2F80-4BAA-8C31-A253BBBFC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71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B6CEE-583F-DB35-2837-4A3D61FC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DCA0F7-EC12-2EA8-54BE-94EB75B22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A1CCD-DADC-0066-D88D-18E0643B9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AFF57-07C8-8E2A-0446-0ACD77E3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8F89-A8C9-4D2C-B70C-C4BF92E1C4E1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7E18F-E70F-C1AA-1FAA-5B9240545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C0F34-B83D-DA5F-B05B-57771A455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0EBC-2F80-4BAA-8C31-A253BBBFC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982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10D1-2DEE-8369-A08D-AC99A4B93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6CAD8-07BB-095D-426C-6345A5B31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C6076-C698-D788-1F87-315EEFC8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8F89-A8C9-4D2C-B70C-C4BF92E1C4E1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8C4BB-4D08-91C0-0758-107C5B6F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4A8EB-A116-A6B3-7044-3CFDE919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0EBC-2F80-4BAA-8C31-A253BBBFC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55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83D37-DA0D-E513-32B9-DD4E57081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6BD9B-C1A3-94EC-FBAC-D06DFD8E1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1E319-2406-64FC-6B85-30E7DC117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8F89-A8C9-4D2C-B70C-C4BF92E1C4E1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4E4BC-F2D2-5C84-F243-1B70F10A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64F5B-876A-E948-E992-AA6B8671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0EBC-2F80-4BAA-8C31-A253BBBFC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98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95A25-2CE6-C979-61A2-14B8E539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6ABD3-2863-54B7-7EA7-B0C8BAB96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1F946-E066-4A3F-AA56-0016DB0720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88F89-A8C9-4D2C-B70C-C4BF92E1C4E1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33338-19D1-A773-16EC-6FE5383F2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8AB9D-00B2-FB68-F448-AA2F586E2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C0EBC-2F80-4BAA-8C31-A253BBBFC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13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8D11120-DA23-F85F-C5B4-F079B7DD9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348" y="1124262"/>
            <a:ext cx="8017652" cy="2690413"/>
          </a:xfrm>
        </p:spPr>
        <p:txBody>
          <a:bodyPr anchor="t">
            <a:normAutofit/>
          </a:bodyPr>
          <a:lstStyle/>
          <a:p>
            <a:pPr algn="l"/>
            <a:br>
              <a:rPr lang="en-IN" sz="5400">
                <a:solidFill>
                  <a:srgbClr val="FFFFFF"/>
                </a:solidFill>
              </a:rPr>
            </a:br>
            <a:r>
              <a:rPr lang="en-IN" sz="5400">
                <a:solidFill>
                  <a:srgbClr val="FFFFFF"/>
                </a:solidFill>
              </a:rPr>
              <a:t> </a:t>
            </a:r>
            <a:r>
              <a:rPr lang="en-IN" sz="5400" b="1">
                <a:solidFill>
                  <a:srgbClr val="FFFFFF"/>
                </a:solidFill>
              </a:rPr>
              <a:t>Project Title </a:t>
            </a:r>
            <a:endParaRPr lang="en-IN" sz="5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8B591-D31C-9A9A-962F-80AD16561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6348" y="5099566"/>
            <a:ext cx="6481746" cy="1199733"/>
          </a:xfrm>
        </p:spPr>
        <p:txBody>
          <a:bodyPr anchor="ctr">
            <a:normAutofit/>
          </a:bodyPr>
          <a:lstStyle/>
          <a:p>
            <a:pPr algn="l"/>
            <a:endParaRPr lang="en-IN" sz="2000" dirty="0"/>
          </a:p>
          <a:p>
            <a:pPr algn="l"/>
            <a:r>
              <a:rPr lang="en-US" sz="2000" dirty="0"/>
              <a:t> </a:t>
            </a:r>
            <a:r>
              <a:rPr lang="en-US" sz="2000" b="1" dirty="0" err="1"/>
              <a:t>Supermart</a:t>
            </a:r>
            <a:r>
              <a:rPr lang="en-US" sz="2000" b="1" dirty="0"/>
              <a:t> Profit Prediction &amp; Retail Business Analytics System </a:t>
            </a:r>
            <a:endParaRPr lang="en-IN" sz="2000" dirty="0"/>
          </a:p>
        </p:txBody>
      </p:sp>
      <p:pic>
        <p:nvPicPr>
          <p:cNvPr id="32" name="Graphic 31" descr="Users">
            <a:extLst>
              <a:ext uri="{FF2B5EF4-FFF2-40B4-BE49-F238E27FC236}">
                <a16:creationId xmlns:a16="http://schemas.microsoft.com/office/drawing/2014/main" id="{83ACB7A5-2047-2A0F-E97B-F1B864529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5646" y="5061057"/>
            <a:ext cx="1199733" cy="11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6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multi colored wooden stick figures">
            <a:extLst>
              <a:ext uri="{FF2B5EF4-FFF2-40B4-BE49-F238E27FC236}">
                <a16:creationId xmlns:a16="http://schemas.microsoft.com/office/drawing/2014/main" id="{BC978C43-1651-6828-2FD2-818B952812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58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DBE3D-C088-A014-BA85-1075DA30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br>
              <a:rPr lang="en-IN" sz="4000"/>
            </a:br>
            <a:r>
              <a:rPr lang="en-IN" sz="4000"/>
              <a:t> </a:t>
            </a:r>
            <a:r>
              <a:rPr lang="en-IN" sz="4000" b="1"/>
              <a:t>Business Problem 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323CF-0AAB-BBD8-09FA-9EC34EB3B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endParaRPr lang="en-IN" sz="2000" dirty="0"/>
          </a:p>
          <a:p>
            <a:pPr marL="0" indent="0">
              <a:buNone/>
            </a:pPr>
            <a:r>
              <a:rPr lang="en-US" sz="2000" dirty="0"/>
              <a:t>Retail businesses face challenges in predicting profit due to fluctuating sales, discount strategies, seasonal demand, and product-level variations. Business teams need a reliable system to </a:t>
            </a:r>
            <a:r>
              <a:rPr lang="en-US" sz="2000" b="1" dirty="0"/>
              <a:t>analyze historical performance </a:t>
            </a:r>
            <a:r>
              <a:rPr lang="en-US" sz="2000" dirty="0"/>
              <a:t>and </a:t>
            </a:r>
            <a:r>
              <a:rPr lang="en-US" sz="2000" b="1" dirty="0"/>
              <a:t>predict future profitability </a:t>
            </a:r>
            <a:r>
              <a:rPr lang="en-US" sz="2000" dirty="0"/>
              <a:t>before making pricing or promotional decisions.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49421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B5605-D0D8-683C-6565-F066C33F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br>
              <a:rPr lang="en-IN">
                <a:solidFill>
                  <a:srgbClr val="FFFFFF"/>
                </a:solidFill>
              </a:rPr>
            </a:br>
            <a:r>
              <a:rPr lang="en-IN">
                <a:solidFill>
                  <a:srgbClr val="FFFFFF"/>
                </a:solidFill>
              </a:rPr>
              <a:t> </a:t>
            </a:r>
            <a:r>
              <a:rPr lang="en-IN" b="1">
                <a:solidFill>
                  <a:srgbClr val="FFFFFF"/>
                </a:solidFill>
              </a:rPr>
              <a:t>Project Objective 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A350BA-22CF-BF62-33BB-2CCDBA9BF2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4242565"/>
              </p:ext>
            </p:extLst>
          </p:nvPr>
        </p:nvGraphicFramePr>
        <p:xfrm>
          <a:off x="4447308" y="591344"/>
          <a:ext cx="6906491" cy="558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4197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020BD-E875-7527-6BAA-725F8DDEE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br>
              <a:rPr lang="en-IN">
                <a:solidFill>
                  <a:srgbClr val="FFFFFF"/>
                </a:solidFill>
              </a:rPr>
            </a:br>
            <a:r>
              <a:rPr lang="en-IN">
                <a:solidFill>
                  <a:srgbClr val="FFFFFF"/>
                </a:solidFill>
              </a:rPr>
              <a:t> </a:t>
            </a:r>
            <a:r>
              <a:rPr lang="en-IN" b="1">
                <a:solidFill>
                  <a:srgbClr val="FFFFFF"/>
                </a:solidFill>
              </a:rPr>
              <a:t>Dataset Overview 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BDF516-DDF8-EA7B-6B1D-1759EA51A0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408586"/>
              </p:ext>
            </p:extLst>
          </p:nvPr>
        </p:nvGraphicFramePr>
        <p:xfrm>
          <a:off x="4447308" y="591344"/>
          <a:ext cx="6906491" cy="558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6531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92100-7560-FB17-0599-B850D2DCE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br>
              <a:rPr lang="en-IN" sz="3400">
                <a:solidFill>
                  <a:srgbClr val="FFFFFF"/>
                </a:solidFill>
              </a:rPr>
            </a:br>
            <a:r>
              <a:rPr lang="en-IN" sz="3400">
                <a:solidFill>
                  <a:srgbClr val="FFFFFF"/>
                </a:solidFill>
              </a:rPr>
              <a:t> </a:t>
            </a:r>
            <a:r>
              <a:rPr lang="en-IN" sz="3400" b="1">
                <a:solidFill>
                  <a:srgbClr val="FFFFFF"/>
                </a:solidFill>
              </a:rPr>
              <a:t>TOOLS &amp; TECHNOLOGIES USED </a:t>
            </a:r>
            <a:endParaRPr lang="en-IN" sz="34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40106B-10C2-F146-7579-83D93959CB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7267454"/>
              </p:ext>
            </p:extLst>
          </p:nvPr>
        </p:nvGraphicFramePr>
        <p:xfrm>
          <a:off x="5370153" y="1526033"/>
          <a:ext cx="5536397" cy="3935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5829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45EC0-C2B3-1498-BB03-A47E3145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Step 1: Excel Analysis (WHY &amp; HOW) </a:t>
            </a:r>
            <a:br>
              <a:rPr lang="en-US">
                <a:solidFill>
                  <a:srgbClr val="FFFFFF"/>
                </a:solidFill>
              </a:rPr>
            </a:br>
            <a:r>
              <a:rPr lang="en-IN" b="1">
                <a:solidFill>
                  <a:srgbClr val="FFFFFF"/>
                </a:solidFill>
              </a:rPr>
              <a:t> Why Excel was used 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654B4-53AF-1566-10D3-7908E4AD6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800"/>
              <a:t>Excel was used as the </a:t>
            </a:r>
            <a:r>
              <a:rPr lang="en-US" sz="1800" b="1"/>
              <a:t>first-level analysis tool </a:t>
            </a:r>
            <a:r>
              <a:rPr lang="en-US" sz="1800"/>
              <a:t>to quickly understand the data before moving to advanced tools. </a:t>
            </a:r>
          </a:p>
          <a:p>
            <a:r>
              <a:rPr lang="en-US" sz="1800" b="1"/>
              <a:t> What was done in Excel </a:t>
            </a:r>
            <a:endParaRPr lang="en-US" sz="1800"/>
          </a:p>
          <a:p>
            <a:r>
              <a:rPr lang="en-US" sz="1800"/>
              <a:t> Reviewed raw data structure and column meanings </a:t>
            </a:r>
          </a:p>
          <a:p>
            <a:r>
              <a:rPr lang="en-US" sz="1800"/>
              <a:t> Checked for missing values and incorrect data types </a:t>
            </a:r>
          </a:p>
          <a:p>
            <a:r>
              <a:rPr lang="en-US" sz="1800"/>
              <a:t> Identified outliers in Sales, Discount, and Profit </a:t>
            </a:r>
          </a:p>
          <a:p>
            <a:r>
              <a:rPr lang="en-IN" sz="1800"/>
              <a:t> Created basic pivot tables: </a:t>
            </a:r>
          </a:p>
          <a:p>
            <a:r>
              <a:rPr lang="en-US" sz="1800"/>
              <a:t> Category-wise sales and profit </a:t>
            </a:r>
          </a:p>
          <a:p>
            <a:r>
              <a:rPr lang="en-IN" sz="1800"/>
              <a:t> Region-wise performance </a:t>
            </a:r>
          </a:p>
          <a:p>
            <a:r>
              <a:rPr lang="en-US" sz="1800"/>
              <a:t> Used charts to visually understand: </a:t>
            </a:r>
          </a:p>
          <a:p>
            <a:r>
              <a:rPr lang="en-US" sz="1800"/>
              <a:t> Sales vs Profit trends </a:t>
            </a:r>
          </a:p>
          <a:p>
            <a:r>
              <a:rPr lang="en-US" sz="1800"/>
              <a:t> Discount impact on profit </a:t>
            </a:r>
          </a:p>
          <a:p>
            <a:endParaRPr lang="en-IN" sz="1800"/>
          </a:p>
          <a:p>
            <a:r>
              <a:rPr lang="en-US" sz="1800"/>
              <a:t> </a:t>
            </a:r>
            <a:r>
              <a:rPr lang="en-US" sz="1800" b="1"/>
              <a:t>Outcome: </a:t>
            </a:r>
            <a:r>
              <a:rPr lang="en-US" sz="1800"/>
              <a:t>Excel helped validate data quality and provided initial business insights that guided further analysis in SQL and Python. 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344810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9F035A-6027-3072-2B4C-E596074F99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581"/>
          <a:stretch>
            <a:fillRect/>
          </a:stretch>
        </p:blipFill>
        <p:spPr>
          <a:xfrm>
            <a:off x="721084" y="643466"/>
            <a:ext cx="1074983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74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EB8D1-3B23-8939-E088-84BC213F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Step 2: SQL Analysis (WHY &amp; HOW) </a:t>
            </a:r>
            <a:br>
              <a:rPr lang="en-US">
                <a:solidFill>
                  <a:srgbClr val="FFFFFF"/>
                </a:solidFill>
              </a:rPr>
            </a:br>
            <a:r>
              <a:rPr lang="en-IN" b="1">
                <a:solidFill>
                  <a:srgbClr val="FFFFFF"/>
                </a:solidFill>
              </a:rPr>
              <a:t> Why SQL was used 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578B-566D-E66C-F185-BBEB5896E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100"/>
              <a:t>SQL was used to perform </a:t>
            </a:r>
            <a:r>
              <a:rPr lang="en-US" sz="1100" b="1"/>
              <a:t>structured, business-driven analysis </a:t>
            </a:r>
            <a:r>
              <a:rPr lang="en-US" sz="1100"/>
              <a:t>similar to how data is analyzed in real organizations using databases. </a:t>
            </a:r>
          </a:p>
          <a:p>
            <a:r>
              <a:rPr lang="en-US" sz="1100" b="1"/>
              <a:t> What was done using SQL </a:t>
            </a:r>
            <a:endParaRPr lang="en-US" sz="1100"/>
          </a:p>
          <a:p>
            <a:r>
              <a:rPr lang="en-US" sz="1100"/>
              <a:t> Queried total sales and profit by: </a:t>
            </a:r>
          </a:p>
          <a:p>
            <a:r>
              <a:rPr lang="en-IN" sz="1100"/>
              <a:t> Category </a:t>
            </a:r>
          </a:p>
          <a:p>
            <a:r>
              <a:rPr lang="en-IN" sz="1100"/>
              <a:t> Sub-category </a:t>
            </a:r>
          </a:p>
          <a:p>
            <a:r>
              <a:rPr lang="en-IN" sz="1100"/>
              <a:t> Region </a:t>
            </a:r>
          </a:p>
          <a:p>
            <a:r>
              <a:rPr lang="en-US" sz="1100"/>
              <a:t> Identified top-performing and low-performing products </a:t>
            </a:r>
          </a:p>
          <a:p>
            <a:r>
              <a:rPr lang="en-US" sz="1100"/>
              <a:t> Analyzed discount impact using grouped aggregations </a:t>
            </a:r>
          </a:p>
          <a:p>
            <a:r>
              <a:rPr lang="en-US" sz="1100"/>
              <a:t> Validated business KPIs such as: </a:t>
            </a:r>
          </a:p>
          <a:p>
            <a:r>
              <a:rPr lang="it-IT" sz="1100"/>
              <a:t> Average discount per region </a:t>
            </a:r>
          </a:p>
          <a:p>
            <a:r>
              <a:rPr lang="en-US" sz="1100"/>
              <a:t> Profit contribution by category </a:t>
            </a:r>
          </a:p>
          <a:p>
            <a:endParaRPr lang="en-IN" sz="1100"/>
          </a:p>
          <a:p>
            <a:r>
              <a:rPr lang="en-US" sz="1100"/>
              <a:t> </a:t>
            </a:r>
            <a:r>
              <a:rPr lang="en-US" sz="1100" b="1"/>
              <a:t>Example business questions answered via SQL: </a:t>
            </a:r>
            <a:endParaRPr lang="en-US" sz="1100"/>
          </a:p>
          <a:p>
            <a:r>
              <a:rPr lang="en-US" sz="1100"/>
              <a:t> Which category generates the highest profit? </a:t>
            </a:r>
          </a:p>
          <a:p>
            <a:r>
              <a:rPr lang="en-US" sz="1100"/>
              <a:t> Which region is most sensitive to discounts? </a:t>
            </a:r>
          </a:p>
          <a:p>
            <a:r>
              <a:rPr lang="en-US" sz="1100"/>
              <a:t> How does profit vary across different product segments? </a:t>
            </a:r>
          </a:p>
          <a:p>
            <a:endParaRPr lang="en-IN" sz="1100"/>
          </a:p>
          <a:p>
            <a:r>
              <a:rPr lang="en-US" sz="1100"/>
              <a:t> </a:t>
            </a:r>
            <a:r>
              <a:rPr lang="en-US" sz="1100" b="1"/>
              <a:t>Outcome: </a:t>
            </a:r>
            <a:r>
              <a:rPr lang="en-US" sz="1100"/>
              <a:t>SQL helped transform raw data into </a:t>
            </a:r>
            <a:r>
              <a:rPr lang="en-US" sz="1100" b="1"/>
              <a:t>business-ready insights </a:t>
            </a:r>
            <a:r>
              <a:rPr lang="en-US" sz="1100"/>
              <a:t>and ensured the analysis aligned with real-world reporting practices. </a:t>
            </a:r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625811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3DC0B-0BC8-7077-F1AE-10EA6092F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1122363"/>
            <a:ext cx="3200400" cy="23876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b="1" kern="1200" dirty="0">
                <a:solidFill>
                  <a:schemeClr val="tx1"/>
                </a:solidFill>
                <a:latin typeface="Amasis MT Pro Black" panose="02040A04050005020304" pitchFamily="18" charset="0"/>
              </a:rPr>
              <a:t>SQL QUERIES &amp; ANSWERS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7E6B6D-2F84-4166-9F4D-FFA0E0860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7233" y="-3491145"/>
            <a:ext cx="91440" cy="914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540AD87-30B2-4359-A33A-86D9F59E3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206" y="-3491145"/>
            <a:ext cx="91440" cy="914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11CC74-416E-4F21-A559-C8B7905D9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7973" y="-3491145"/>
            <a:ext cx="91440" cy="914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417E02-4A8F-49E1-A00B-890419266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42"/>
          <a:stretch>
            <a:fillRect/>
          </a:stretch>
        </p:blipFill>
        <p:spPr>
          <a:xfrm>
            <a:off x="4653627" y="-1"/>
            <a:ext cx="3719750" cy="22250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74B7CA-7199-CCBF-CADA-2B65BD651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04" b="-3"/>
          <a:stretch>
            <a:fillRect/>
          </a:stretch>
        </p:blipFill>
        <p:spPr>
          <a:xfrm>
            <a:off x="8464815" y="-16426"/>
            <a:ext cx="3719752" cy="226703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0B7C25-9CC6-5682-8EFE-49288BA21C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78" b="4"/>
          <a:stretch>
            <a:fillRect/>
          </a:stretch>
        </p:blipFill>
        <p:spPr>
          <a:xfrm>
            <a:off x="4653626" y="2316480"/>
            <a:ext cx="3719749" cy="22086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2F0F5C-9F68-7437-423D-2D29DF76A9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78" b="4"/>
          <a:stretch>
            <a:fillRect/>
          </a:stretch>
        </p:blipFill>
        <p:spPr>
          <a:xfrm>
            <a:off x="8464815" y="2316480"/>
            <a:ext cx="3719748" cy="2208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4B4846-1CA5-3800-21E0-88EB0D6BE1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97" b="-4"/>
          <a:stretch>
            <a:fillRect/>
          </a:stretch>
        </p:blipFill>
        <p:spPr>
          <a:xfrm>
            <a:off x="4653627" y="4616536"/>
            <a:ext cx="3719748" cy="2241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9F9E47-0723-A9B4-109A-BE54C29ACE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64" b="1"/>
          <a:stretch>
            <a:fillRect/>
          </a:stretch>
        </p:blipFill>
        <p:spPr>
          <a:xfrm>
            <a:off x="8464815" y="4607394"/>
            <a:ext cx="3719752" cy="225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150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AD96E-436D-1F88-00BF-B6E5DD4B7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rgbClr val="FFFFFF"/>
                </a:solidFill>
              </a:rPr>
              <a:t>Step 3: Data Cleaning &amp; Preprocessing (Python) </a:t>
            </a:r>
            <a:endParaRPr lang="en-IN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BE93CE-9EFC-9ABD-5CCE-E641C014F0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064276"/>
              </p:ext>
            </p:extLst>
          </p:nvPr>
        </p:nvGraphicFramePr>
        <p:xfrm>
          <a:off x="4447308" y="591344"/>
          <a:ext cx="6906491" cy="558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2662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87926D-3501-9287-16FE-FAB2FC4F8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Step 4: Exploratory Data Analysis (EDA) 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F522CB-F836-E94F-B976-14154613BF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5754395"/>
              </p:ext>
            </p:extLst>
          </p:nvPr>
        </p:nvGraphicFramePr>
        <p:xfrm>
          <a:off x="4447308" y="591344"/>
          <a:ext cx="6906491" cy="558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2799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8389D-BD87-1336-F5CE-EF24524C8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Step 5: Feature Engineering 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EE755C-EE5C-0F74-5C8C-2D9F8617D8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035045"/>
              </p:ext>
            </p:extLst>
          </p:nvPr>
        </p:nvGraphicFramePr>
        <p:xfrm>
          <a:off x="4447308" y="591344"/>
          <a:ext cx="6906491" cy="558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92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6AC2F-87F1-F1DF-E0EF-A8EDC23E3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Step 6: Machine Learning Modeling 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F88CA-0D61-6CA1-C38C-5F833936E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sz="2200" b="1"/>
              <a:t>Baseline Model: Linear Regression </a:t>
            </a:r>
            <a:endParaRPr lang="en-IN" sz="2200"/>
          </a:p>
          <a:p>
            <a:r>
              <a:rPr lang="en-US" sz="2200"/>
              <a:t> Used to establish a baseline performance </a:t>
            </a:r>
          </a:p>
          <a:p>
            <a:r>
              <a:rPr lang="en-US" sz="2200"/>
              <a:t> Provided interpretability of linear relationships </a:t>
            </a:r>
          </a:p>
          <a:p>
            <a:endParaRPr lang="en-IN" sz="2200"/>
          </a:p>
          <a:p>
            <a:r>
              <a:rPr lang="en-US" sz="2200" b="1"/>
              <a:t>Advanced Model: Random Forest Regressor </a:t>
            </a:r>
            <a:endParaRPr lang="en-US" sz="2200"/>
          </a:p>
          <a:p>
            <a:r>
              <a:rPr lang="en-IN" sz="2200"/>
              <a:t> Captured non-linear patterns </a:t>
            </a:r>
          </a:p>
          <a:p>
            <a:r>
              <a:rPr lang="en-US" sz="2200"/>
              <a:t> Improved handling of complex feature interactions </a:t>
            </a:r>
          </a:p>
          <a:p>
            <a:r>
              <a:rPr lang="en-IN" sz="2200"/>
              <a:t> Provided better business-level insights </a:t>
            </a:r>
          </a:p>
          <a:p>
            <a:endParaRPr lang="en-IN" sz="2200"/>
          </a:p>
          <a:p>
            <a:r>
              <a:rPr lang="en-IN" sz="2200"/>
              <a:t>Models were evaluated using: </a:t>
            </a:r>
          </a:p>
          <a:p>
            <a:r>
              <a:rPr lang="en-IN" sz="2200"/>
              <a:t> Mean Absolute Error (MAE) </a:t>
            </a:r>
          </a:p>
          <a:p>
            <a:r>
              <a:rPr lang="en-IN" sz="2200"/>
              <a:t> R² Score 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2940571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7E1DBA-CCBC-6ED3-5872-882D125F9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Step 7: Model Deployment using Streamlit 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71AA6-8946-47E4-5DB0-1822E8369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The trained Random Forest model was deployed using </a:t>
            </a:r>
            <a:r>
              <a:rPr lang="en-US" dirty="0" err="1"/>
              <a:t>Streamlit</a:t>
            </a:r>
            <a:r>
              <a:rPr lang="en-US" dirty="0"/>
              <a:t> Cloud: </a:t>
            </a:r>
          </a:p>
          <a:p>
            <a:r>
              <a:rPr lang="en-US" dirty="0"/>
              <a:t> Users can input order details </a:t>
            </a:r>
          </a:p>
          <a:p>
            <a:r>
              <a:rPr lang="en-US" dirty="0"/>
              <a:t> Real-time profit predictions are generated </a:t>
            </a:r>
          </a:p>
          <a:p>
            <a:r>
              <a:rPr lang="en-US" dirty="0"/>
              <a:t> Business warnings and insights are displayed </a:t>
            </a:r>
          </a:p>
          <a:p>
            <a:r>
              <a:rPr lang="en-US" dirty="0"/>
              <a:t> The app converts ML output into actionable insights </a:t>
            </a:r>
          </a:p>
          <a:p>
            <a:endParaRPr lang="en-IN" dirty="0"/>
          </a:p>
          <a:p>
            <a:r>
              <a:rPr lang="en-US" dirty="0"/>
              <a:t>This step transformed the analysis into a </a:t>
            </a:r>
            <a:r>
              <a:rPr lang="en-US" b="1" dirty="0"/>
              <a:t>production-style business application</a:t>
            </a:r>
            <a:r>
              <a:rPr lang="en-US" dirty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8803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5FFCB-A306-76A9-4F0A-B75AA89A8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Streamlit Model Deployed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68F1D-E93E-122C-8D2A-107454D64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648226"/>
            <a:ext cx="7188199" cy="355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01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3FC5F-ACB0-91E6-7B61-109B7086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Business Solution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7B574-4B5E-EA2A-3F28-F863898B8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The developed profit prediction system enables retail teams to estimate expected profit before executing pricing and discount strategies. By providing scenario-based insights through an interactive dashboard, the solution helps businesses optimize discounts, improve category-level decision-making, and reduce the risk of profit loss. This data-driven approach supports smarter pricing, better promotion planning, and improved overall profitability.</a:t>
            </a: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700304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1A062C-DA87-C8B7-2500-32A1673D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Business Impact &amp; Insights 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0BA61-F8C5-84EF-4DD4-529D5882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endParaRPr lang="en-IN" dirty="0"/>
          </a:p>
          <a:p>
            <a:r>
              <a:rPr lang="en-US" dirty="0"/>
              <a:t>High discounts negatively impact profitability </a:t>
            </a:r>
          </a:p>
          <a:p>
            <a:r>
              <a:rPr lang="en-US" dirty="0"/>
              <a:t> Certain categories consistently perform better </a:t>
            </a:r>
          </a:p>
          <a:p>
            <a:r>
              <a:rPr lang="en-US" dirty="0"/>
              <a:t> Profit prediction supports pricing and promotion decisions </a:t>
            </a:r>
          </a:p>
          <a:p>
            <a:r>
              <a:rPr lang="en-IN" dirty="0"/>
              <a:t> Scenario testing reduces financial risk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673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1C2E9-3817-9F47-500F-EEBEC0E5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Final Conclusion 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AC0EB-E045-6F50-DCF9-818C127A3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This project demonstrates a complete retail analytics solution by combining Excel, SQL, Python, Machine Learning, and </a:t>
            </a:r>
            <a:r>
              <a:rPr lang="en-US" sz="2000" err="1"/>
              <a:t>Streamlit</a:t>
            </a:r>
            <a:r>
              <a:rPr lang="en-US" sz="2000"/>
              <a:t> deployment. Excel and SQL were used for initial data validation and business-level analysis, while Python enabled advanced analytics and modeling. The final deployed application allows stakeholders to predict profit in real time and make informed business decisions. This project reflects real-world data science workflows and highlights the importance of combining technical skills with business understanding. 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618681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82767-D0EF-C5E4-602B-D4DD86742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06927-E444-2B33-3DF0-79DA1D0E6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For Your Precious Time</a:t>
            </a:r>
          </a:p>
        </p:txBody>
      </p:sp>
    </p:spTree>
    <p:extLst>
      <p:ext uri="{BB962C8B-B14F-4D97-AF65-F5344CB8AC3E}">
        <p14:creationId xmlns:p14="http://schemas.microsoft.com/office/powerpoint/2010/main" val="429492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927</Words>
  <Application>Microsoft Office PowerPoint</Application>
  <PresentationFormat>Widescreen</PresentationFormat>
  <Paragraphs>114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Amasis MT Pro Black</vt:lpstr>
      <vt:lpstr>Aptos</vt:lpstr>
      <vt:lpstr>Aptos Display</vt:lpstr>
      <vt:lpstr>Arial</vt:lpstr>
      <vt:lpstr>Calibri</vt:lpstr>
      <vt:lpstr>Office Theme</vt:lpstr>
      <vt:lpstr>  Project Title </vt:lpstr>
      <vt:lpstr>  Business Problem </vt:lpstr>
      <vt:lpstr>  Project Objective </vt:lpstr>
      <vt:lpstr>  Dataset Overview </vt:lpstr>
      <vt:lpstr>  TOOLS &amp; TECHNOLOGIES USED </vt:lpstr>
      <vt:lpstr>Step 1: Excel Analysis (WHY &amp; HOW)   Why Excel was used </vt:lpstr>
      <vt:lpstr>PowerPoint Presentation</vt:lpstr>
      <vt:lpstr>Step 2: SQL Analysis (WHY &amp; HOW)   Why SQL was used </vt:lpstr>
      <vt:lpstr>SQL QUERIES &amp; ANSWERS</vt:lpstr>
      <vt:lpstr>Step 3: Data Cleaning &amp; Preprocessing (Python) </vt:lpstr>
      <vt:lpstr>Step 4: Exploratory Data Analysis (EDA) </vt:lpstr>
      <vt:lpstr>Step 5: Feature Engineering </vt:lpstr>
      <vt:lpstr>Step 6: Machine Learning Modeling </vt:lpstr>
      <vt:lpstr>Step 7: Model Deployment using Streamlit </vt:lpstr>
      <vt:lpstr>Streamlit Model Deployed</vt:lpstr>
      <vt:lpstr>Business Solution</vt:lpstr>
      <vt:lpstr>Business Impact &amp; Insights </vt:lpstr>
      <vt:lpstr>Final 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Jwel Aktar</dc:creator>
  <cp:lastModifiedBy>Jwel Aktar</cp:lastModifiedBy>
  <cp:revision>1</cp:revision>
  <dcterms:created xsi:type="dcterms:W3CDTF">2026-01-12T04:47:05Z</dcterms:created>
  <dcterms:modified xsi:type="dcterms:W3CDTF">2026-01-12T05:31:01Z</dcterms:modified>
</cp:coreProperties>
</file>